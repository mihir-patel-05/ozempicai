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e8167fe29e458a" /><Relationship Type="http://schemas.openxmlformats.org/officeDocument/2006/relationships/extended-properties" Target="/docProps/app.xml" Id="R2ed7545e01264a94" /><Relationship Type="http://schemas.openxmlformats.org/officeDocument/2006/relationships/officeDocument" Target="/ppt/presentation.xml" Id="R9d080929e3d54e6a" /></Relationships>
</file>

<file path=ppt/presentation.xml><?xml version="1.0" encoding="utf-8"?>
<p:presentation xmlns:p="http://schemas.openxmlformats.org/presentationml/2006/main">
  <p:sldMasterIdLst>
    <p:sldMasterId xmlns:r="http://schemas.openxmlformats.org/officeDocument/2006/relationships" id="2147483648" r:id="R78e868311ec74457"/>
  </p:sldMasterIdLst>
  <p:notesMasterIdLst>
    <p:notesMasterId xmlns:r="http://schemas.openxmlformats.org/officeDocument/2006/relationships" r:id="R36ebfe3fd9164ef0"/>
  </p:notesMasterIdLst>
  <p:sldIdLst>
    <p:sldId xmlns:r="http://schemas.openxmlformats.org/officeDocument/2006/relationships" id="256" r:id="R6ce32940bbe94117"/>
    <p:sldId xmlns:r="http://schemas.openxmlformats.org/officeDocument/2006/relationships" id="257" r:id="R781ca929ed2a4023"/>
    <p:sldId xmlns:r="http://schemas.openxmlformats.org/officeDocument/2006/relationships" id="258" r:id="Rbe9fcec50a564e67"/>
    <p:sldId xmlns:r="http://schemas.openxmlformats.org/officeDocument/2006/relationships" id="259" r:id="Rbbdd943e6f444da9"/>
    <p:sldId xmlns:r="http://schemas.openxmlformats.org/officeDocument/2006/relationships" id="260" r:id="R545506fb02af4cda"/>
    <p:sldId xmlns:r="http://schemas.openxmlformats.org/officeDocument/2006/relationships" id="261" r:id="Rf1ff15070a7b4e85"/>
    <p:sldId xmlns:r="http://schemas.openxmlformats.org/officeDocument/2006/relationships" id="262" r:id="Rb019dd83f5b04948"/>
    <p:sldId xmlns:r="http://schemas.openxmlformats.org/officeDocument/2006/relationships" id="263" r:id="Rb6fd48fa897c45b8"/>
    <p:sldId xmlns:r="http://schemas.openxmlformats.org/officeDocument/2006/relationships" id="264" r:id="Rff9e4cfc9c074f38"/>
    <p:sldId xmlns:r="http://schemas.openxmlformats.org/officeDocument/2006/relationships" id="265" r:id="Ra448cff168464dc3"/>
    <p:sldId xmlns:r="http://schemas.openxmlformats.org/officeDocument/2006/relationships" id="266" r:id="Re291a5514b8d4d12"/>
    <p:sldId xmlns:r="http://schemas.openxmlformats.org/officeDocument/2006/relationships" id="267" r:id="Rb645fc8a7ae24cde"/>
    <p:sldId xmlns:r="http://schemas.openxmlformats.org/officeDocument/2006/relationships" id="268" r:id="R2a68705eced64086"/>
    <p:sldId xmlns:r="http://schemas.openxmlformats.org/officeDocument/2006/relationships" id="269" r:id="R8aac5c2ea8fe44f5"/>
    <p:sldId xmlns:r="http://schemas.openxmlformats.org/officeDocument/2006/relationships" id="270" r:id="R7d2eac590b0642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39517d51394386" /><Relationship Type="http://schemas.openxmlformats.org/officeDocument/2006/relationships/slideMaster" Target="/ppt/slideMasters/slideMaster1.xml" Id="R78e868311ec74457" /><Relationship Type="http://schemas.openxmlformats.org/officeDocument/2006/relationships/notesMaster" Target="/ppt/notesMasters/notesMaster1.xml" Id="R36ebfe3fd9164ef0" /><Relationship Type="http://schemas.openxmlformats.org/officeDocument/2006/relationships/presProps" Target="/ppt/presProps.xml" Id="Ra5562359643d4ccf" /><Relationship Type="http://schemas.openxmlformats.org/officeDocument/2006/relationships/tableStyles" Target="/ppt/tableStyles.xml" Id="R69259de98ad9451b" /><Relationship Type="http://schemas.openxmlformats.org/officeDocument/2006/relationships/slide" Target="/ppt/slides/slide1.xml" Id="R6ce32940bbe94117" /><Relationship Type="http://schemas.openxmlformats.org/officeDocument/2006/relationships/slide" Target="/ppt/slides/slide2.xml" Id="R781ca929ed2a4023" /><Relationship Type="http://schemas.openxmlformats.org/officeDocument/2006/relationships/slide" Target="/ppt/slides/slide3.xml" Id="Rbe9fcec50a564e67" /><Relationship Type="http://schemas.openxmlformats.org/officeDocument/2006/relationships/slide" Target="/ppt/slides/slide4.xml" Id="Rbbdd943e6f444da9" /><Relationship Type="http://schemas.openxmlformats.org/officeDocument/2006/relationships/slide" Target="/ppt/slides/slide5.xml" Id="R545506fb02af4cda" /><Relationship Type="http://schemas.openxmlformats.org/officeDocument/2006/relationships/slide" Target="/ppt/slides/slide6.xml" Id="Rf1ff15070a7b4e85" /><Relationship Type="http://schemas.openxmlformats.org/officeDocument/2006/relationships/slide" Target="/ppt/slides/slide7.xml" Id="Rb019dd83f5b04948" /><Relationship Type="http://schemas.openxmlformats.org/officeDocument/2006/relationships/slide" Target="/ppt/slides/slide8.xml" Id="Rb6fd48fa897c45b8" /><Relationship Type="http://schemas.openxmlformats.org/officeDocument/2006/relationships/slide" Target="/ppt/slides/slide9.xml" Id="Rff9e4cfc9c074f38" /><Relationship Type="http://schemas.openxmlformats.org/officeDocument/2006/relationships/slide" Target="/ppt/slides/slide10.xml" Id="Ra448cff168464dc3" /><Relationship Type="http://schemas.openxmlformats.org/officeDocument/2006/relationships/slide" Target="/ppt/slides/slide11.xml" Id="Re291a5514b8d4d12" /><Relationship Type="http://schemas.openxmlformats.org/officeDocument/2006/relationships/slide" Target="/ppt/slides/slide12.xml" Id="Rb645fc8a7ae24cde" /><Relationship Type="http://schemas.openxmlformats.org/officeDocument/2006/relationships/slide" Target="/ppt/slides/slide13.xml" Id="R2a68705eced64086" /><Relationship Type="http://schemas.openxmlformats.org/officeDocument/2006/relationships/slide" Target="/ppt/slides/slide14.xml" Id="R8aac5c2ea8fe44f5" /><Relationship Type="http://schemas.openxmlformats.org/officeDocument/2006/relationships/slide" Target="/ppt/slides/slide15.xml" Id="R7d2eac590b0642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417b18d9a645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fc4c33450d4c1b" /><Relationship Type="http://schemas.openxmlformats.org/officeDocument/2006/relationships/notesMaster" Target="/ppt/notesMasters/notesMaster1.xml" Id="Rdcd610ea22954c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cda1c656994fff" /><Relationship Type="http://schemas.openxmlformats.org/officeDocument/2006/relationships/notesMaster" Target="/ppt/notesMasters/notesMaster1.xml" Id="Re31eafd0f6234f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d7c314762f41c9" /><Relationship Type="http://schemas.openxmlformats.org/officeDocument/2006/relationships/notesMaster" Target="/ppt/notesMasters/notesMaster1.xml" Id="R30558096562b4c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fa2a3cebfc437a" /><Relationship Type="http://schemas.openxmlformats.org/officeDocument/2006/relationships/notesMaster" Target="/ppt/notesMasters/notesMaster1.xml" Id="R21c025197c6c48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d9cc2c0ced4122" /><Relationship Type="http://schemas.openxmlformats.org/officeDocument/2006/relationships/notesMaster" Target="/ppt/notesMasters/notesMaster1.xml" Id="R0e7f8248d7a246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eee796ac484fa7" /><Relationship Type="http://schemas.openxmlformats.org/officeDocument/2006/relationships/notesMaster" Target="/ppt/notesMasters/notesMaster1.xml" Id="Rd81e1f6e963b47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b94cb6266e4bba" /><Relationship Type="http://schemas.openxmlformats.org/officeDocument/2006/relationships/notesMaster" Target="/ppt/notesMasters/notesMaster1.xml" Id="Rda050725ff7f4a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7efac1d42840e9" /><Relationship Type="http://schemas.openxmlformats.org/officeDocument/2006/relationships/notesMaster" Target="/ppt/notesMasters/notesMaster1.xml" Id="R0d8c514ae1264f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383824618341e9" /><Relationship Type="http://schemas.openxmlformats.org/officeDocument/2006/relationships/notesMaster" Target="/ppt/notesMasters/notesMaster1.xml" Id="R5f02798f79e840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4bad597d9b4022" /><Relationship Type="http://schemas.openxmlformats.org/officeDocument/2006/relationships/notesMaster" Target="/ppt/notesMasters/notesMaster1.xml" Id="R73a7254c8e1341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fb4fe8fce44621" /><Relationship Type="http://schemas.openxmlformats.org/officeDocument/2006/relationships/notesMaster" Target="/ppt/notesMasters/notesMaster1.xml" Id="R7d4c74fcb9f842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b56f5692824af2" /><Relationship Type="http://schemas.openxmlformats.org/officeDocument/2006/relationships/notesMaster" Target="/ppt/notesMasters/notesMaster1.xml" Id="Rd5668cb1d33f4e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4171c065cd4104" /><Relationship Type="http://schemas.openxmlformats.org/officeDocument/2006/relationships/notesMaster" Target="/ppt/notesMasters/notesMaster1.xml" Id="Ra4c63c08852646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a22f47fe5d4a69" /><Relationship Type="http://schemas.openxmlformats.org/officeDocument/2006/relationships/notesMaster" Target="/ppt/notesMasters/notesMaster1.xml" Id="R85870632e31d4b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a4623c57cc43ec" /><Relationship Type="http://schemas.openxmlformats.org/officeDocument/2006/relationships/notesMaster" Target="/ppt/notesMasters/notesMaster1.xml" Id="Rf00be482f4624e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OzempicAI product strategy and implementation</a:t>
            </a:r>
          </a:p>
          <a:p xmlns:a="http://schemas.openxmlformats.org/drawingml/2006/main">
            <a:r>
              <a:t>Recommendation</a:t>
            </a:r>
          </a:p>
          <a:p xmlns:a="http://schemas.openxmlformats.org/drawingml/2006/main">
            <a:r>
              <a:t>Fund a 12 week product program that makes daily nutrition easier for adults managing changing appetite, including people using prescribed GLP-1 medication. First repair incomplete planning and goal controls. Then test an appetite check-in that helps users choose a realistic next meal, remembers their preferences, and turns those choices into a flexible weekly plan. Keep basic tracking useful for people who do not use medication.</a:t>
            </a:r>
          </a:p>
          <a:p xmlns:a="http://schemas.openxmlformats.org/drawingml/2006/main">
            <a:r>
              <a:t/>
            </a:r>
          </a:p>
          <a:p xmlns:a="http://schemas.openxmlformats.org/drawingml/2006/main">
            <a:r>
              <a:t>Why this direction</a:t>
            </a:r>
          </a:p>
          <a:p xmlns:a="http://schemas.openxmlformats.org/drawingml/2006/main">
            <a:r>
              <a:t>The current repository provides authenticated manual logs and daily totals, but little help deciding what to do next. Lifesum already markets photo, voice, text and barcode logging. MyFitnessPal offers medication and side effect tracking, while Noom offers a GLP-1 companion. We should close essential usability gaps and compete on whether our suggestions fit a person's actual day. This positioning is a hypothesis to validate, not a claim of unique market ownership. [S1–S4]</a:t>
            </a:r>
          </a:p>
          <a:p xmlns:a="http://schemas.openxmlformats.org/drawingml/2006/main">
            <a:r>
              <a:t/>
            </a:r>
          </a:p>
          <a:p xmlns:a="http://schemas.openxmlformats.org/drawingml/2006/main">
            <a:r>
              <a:t>Decision requested</a:t>
            </a:r>
          </a:p>
          <a:p xmlns:a="http://schemas.openxmlformats.org/drawingml/2006/main">
            <a:r>
              <a:t>Approve a two week discovery and foundations phase within a provisional 12 week envelope. Assume two full-time engineers, a half-time product designer, a half-time product manager and fractional dietitian and QA support. Release later funding at weeks 2 and 6 against the evidence gates in this document. These are planning assumptions, not a statement about current staffing.</a:t>
            </a:r>
          </a:p>
          <a:p xmlns:a="http://schemas.openxmlformats.org/drawingml/2006/main">
            <a:r>
              <a:t/>
            </a:r>
          </a:p>
          <a:p xmlns:a="http://schemas.openxmlformats.org/drawingml/2006/main">
            <a:r>
              <a:t>Evidence and limits</a:t>
            </a:r>
          </a:p>
          <a:p xmlns:a="http://schemas.openxmlformats.org/drawingml/2006/main">
            <a:r>
              <a:t>Leadership reports losing customers to competitors. No production analytics, billing data, support archive or customer interviews were supplied. Findings below come from the local source at commit 4c029f7 and official public competitor documentation accessed September 13, 2026. The deployed app and database were not inspected. Customer segments, estimated effort, pricing and outcome targets are proposals rather than observed results.</a:t>
            </a:r>
          </a:p>
          <a:p xmlns:a="http://schemas.openxmlformats.org/drawingml/2006/main">
            <a:r>
              <a:t/>
            </a:r>
          </a:p>
          <a:p xmlns:a="http://schemas.openxmlformats.org/drawingml/2006/main">
            <a:r>
              <a:t>What success means</a:t>
            </a:r>
          </a:p>
          <a:p xmlns:a="http://schemas.openxmlformats.org/drawingml/2006/main">
            <a:r>
              <a:t>Improve the proportion of eligible users who return in week 4 to complete a useful nutrition action. Use a provisional target of five percentage points of absolute improvement versus a randomized holdout, with no material decline in trust, reliability or paid retention. Establish the baseline and feasible sample size before committing to that threshold.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OzempicAI product strategy and implementation</a:t>
            </a:r>
          </a:p>
          <a:p xmlns:a="http://schemas.openxmlformats.org/drawingml/2006/main">
            <a:r>
              <a:t>Recommendation</a:t>
            </a:r>
          </a:p>
          <a:p xmlns:a="http://schemas.openxmlformats.org/drawingml/2006/main">
            <a:r>
              <a:t>Fund a 12 week product program that makes daily nutrition easier for adults managing changing appetite, including people using prescribed GLP-1 medication. First repair incomplete planning and goal controls. Then test an appetite check-in that helps users choose a realistic next meal, remembers their preferences, and turns those choices into a flexible weekly plan. Keep basic tracking useful for people who do not use medication.</a:t>
            </a:r>
          </a:p>
          <a:p xmlns:a="http://schemas.openxmlformats.org/drawingml/2006/main">
            <a:r>
              <a:t/>
            </a:r>
          </a:p>
          <a:p xmlns:a="http://schemas.openxmlformats.org/drawingml/2006/main">
            <a:r>
              <a:t>Why this direction</a:t>
            </a:r>
          </a:p>
          <a:p xmlns:a="http://schemas.openxmlformats.org/drawingml/2006/main">
            <a:r>
              <a:t>The current repository provides authenticated manual logs and daily totals, but little help deciding what to do next. Lifesum already markets photo, voice, text and barcode logging. MyFitnessPal offers medication and side effect tracking, while Noom offers a GLP-1 companion. We should close essential usability gaps and compete on whether our suggestions fit a person's actual day. This positioning is a hypothesis to validate, not a claim of unique market ownership. [S1–S4]</a:t>
            </a:r>
          </a:p>
          <a:p xmlns:a="http://schemas.openxmlformats.org/drawingml/2006/main">
            <a:r>
              <a:t/>
            </a:r>
          </a:p>
          <a:p xmlns:a="http://schemas.openxmlformats.org/drawingml/2006/main">
            <a:r>
              <a:t>Decision requested</a:t>
            </a:r>
          </a:p>
          <a:p xmlns:a="http://schemas.openxmlformats.org/drawingml/2006/main">
            <a:r>
              <a:t>Approve a two week discovery and foundations phase within a provisional 12 week envelope. Assume two full-time engineers, a half-time product designer, a half-time product manager and fractional dietitian and QA support. Release later funding at weeks 2 and 6 against the evidence gates in this document. These are planning assumptions, not a statement about current staffing.</a:t>
            </a:r>
          </a:p>
          <a:p xmlns:a="http://schemas.openxmlformats.org/drawingml/2006/main">
            <a:r>
              <a:t/>
            </a:r>
          </a:p>
          <a:p xmlns:a="http://schemas.openxmlformats.org/drawingml/2006/main">
            <a:r>
              <a:t>Evidence and limits</a:t>
            </a:r>
          </a:p>
          <a:p xmlns:a="http://schemas.openxmlformats.org/drawingml/2006/main">
            <a:r>
              <a:t>Leadership reports losing customers to competitors. No production analytics, billing data, support archive or customer interviews were supplied. Findings below come from the local source at commit 4c029f7 and official public competitor documentation accessed September 13, 2026. The deployed app and database were not inspected. Customer segments, estimated effort, pricing and outcome targets are proposals rather than observed results.</a:t>
            </a:r>
          </a:p>
          <a:p xmlns:a="http://schemas.openxmlformats.org/drawingml/2006/main">
            <a:r>
              <a:t/>
            </a:r>
          </a:p>
          <a:p xmlns:a="http://schemas.openxmlformats.org/drawingml/2006/main">
            <a:r>
              <a:t>What success means</a:t>
            </a:r>
          </a:p>
          <a:p xmlns:a="http://schemas.openxmlformats.org/drawingml/2006/main">
            <a:r>
              <a:t>Improve the proportion of eligible users who return in week 4 to complete a useful nutrition action. Use a provisional target of five percentage points of absolute improvement versus a randomized holdout, with no material decline in trust, reliability or paid retention. Establish the baseline and feasible sample size before committing to that threshold.</a:t>
            </a:r>
          </a:p>
          <a:p xmlns:a="http://schemas.openxmlformats.org/drawingml/2006/main">
            <a:r>
              <a:t/>
            </a:r>
          </a:p>
          <a:p xmlns:a="http://schemas.openxmlformats.org/drawingml/2006/main">
            <a:r>
              <a:t>Prioritization and delivery capacity</a:t>
            </a:r>
          </a:p>
          <a:p xmlns:a="http://schemas.openxmlformats.org/drawingml/2006/main">
            <a:r>
              <a:t>How we chose the order</a:t>
            </a:r>
          </a:p>
          <a:p xmlns:a="http://schemas.openxmlformats.org/drawingml/2006/main">
            <a:r>
              <a:t>Rank work by observed product gaps, expected repetition of the customer job, learning value and dependency cost. Confidence is highest for placeholder repairs and lowest for personalization and revenue effects. The estimates below are engineering effort ranges before discovery, including ordinary review and feature tests. Shared foundation work appears once. They are not delivery promises.</a:t>
            </a:r>
          </a:p>
          <a:p xmlns:a="http://schemas.openxmlformats.org/drawingml/2006/main">
            <a:r>
              <a:t/>
            </a:r>
          </a:p>
          <a:p xmlns:a="http://schemas.openxmlformats.org/drawingml/2006/main">
            <a:r>
              <a:t>Portfolio</a:t>
            </a:r>
          </a:p>
          <a:p xmlns:a="http://schemas.openxmlformats.org/drawingml/2006/main">
            <a:r>
              <a:t>Foundation and instrumentation: 2 engineer-weeks, required first. F1 My Day and quick repeat: 2–3, highest confidence. F2 Appetite Compass: 3–4, primary differentiation experiment. F3 Flexible Week: 3–4, closes an existing visible gap. F4 assisted capture: 4–6, competitive convenience with vendor and accuracy risk. F5 strength and wins: 2–3, later motivation experiment. F6 weekly story: 2–3, later retention experiment. F7 gentle return: 1–2, later lifecycle experiment. Full portfolio: 19–27 engineer-weeks before contingency, content work and substantial vendor integration.</a:t>
            </a:r>
          </a:p>
          <a:p xmlns:a="http://schemas.openxmlformats.org/drawingml/2006/main">
            <a:r>
              <a:t/>
            </a:r>
          </a:p>
          <a:p xmlns:a="http://schemas.openxmlformats.org/drawingml/2006/main">
            <a:r>
              <a:t>Twelve week commitment</a:t>
            </a:r>
          </a:p>
          <a:p xmlns:a="http://schemas.openxmlformats.org/drawingml/2006/main">
            <a:r>
              <a:t>Two engineers provide 24 nominal engineer-weeks. Reserve six for hardening, integration, research follow-up and unexpected work, leaving 18 for planned scope. Foundation plus F1–F3 consumes 10–13. Allocate the remaining 5–8 to a limited F4 text-capture beta or additional reliability work. Photo rollout and F5–F7 are conditional follow-on work. A narrow weekly summary prototype can support discovery without committing to production F6.</a:t>
            </a:r>
          </a:p>
          <a:p xmlns:a="http://schemas.openxmlformats.org/drawingml/2006/main">
            <a:r>
              <a:t/>
            </a:r>
          </a:p>
          <a:p xmlns:a="http://schemas.openxmlformats.org/drawingml/2006/main">
            <a:r>
              <a:t>Dependencies and ownership</a:t>
            </a:r>
          </a:p>
          <a:p xmlns:a="http://schemas.openxmlformats.org/drawingml/2006/main">
            <a:r>
              <a:t>Product owns target cohorts, problem validation and release decisions. Design owns observed task completion and accessible flows. Engineer A owns core logging, plans and offline mutations. Engineer B owns data changes, analytics and the recommendation service. The dietitian owns recipe eligibility and nutrition copy. A named release owner coordinates QA, support readiness and kill switches. If clinical review is unavailable, launch logging improvements and reviewed generic planning only.</a:t>
            </a:r>
          </a:p>
          <a:p xmlns:a="http://schemas.openxmlformats.org/drawingml/2006/main">
            <a:r>
              <a:t/>
            </a:r>
          </a:p>
          <a:p xmlns:a="http://schemas.openxmlformats.org/drawingml/2006/main">
            <a:r>
              <a:t>What we defer</a:t>
            </a:r>
          </a:p>
          <a:p xmlns:a="http://schemas.openxmlformats.org/drawingml/2006/main">
            <a:r>
              <a:t>Defer social feeds, challenges based on weight loss, autonomous coaching, medication dose recommendations and extensive food database construction. Native HealthKit access requires a native integration path and cannot be assumed from the existing PWA or the heart-rate source enum. Revisit native work only if discovery shows that integration is a major switching reason. [R1, R4, S8]</a:t>
            </a:r>
          </a:p>
          <a:p xmlns:a="http://schemas.openxmlformats.org/drawingml/2006/main">
            <a:r>
              <a:t/>
            </a:r>
          </a:p>
          <a:p xmlns:a="http://schemas.openxmlformats.org/drawingml/2006/main">
            <a:r>
              <a:t>Commercial strategy and investment decisions</a:t>
            </a:r>
          </a:p>
          <a:p xmlns:a="http://schemas.openxmlformats.org/drawingml/2006/main">
            <a:r>
              <a:t>Packaging hypothesis</a:t>
            </a:r>
          </a:p>
          <a:p xmlns:a="http://schemas.openxmlformats.org/drawingml/2006/main">
            <a:r>
              <a:t>Keep manual logging, editable goals, core history, basic planning and personal data export in the accessible core. Test paid value around convenient capture, richer flexible planning and longer-term insights after users experience a useful result. Do not charge for symptom escalation content or lock people out of their records. Competitor free offerings make an undifferentiated GLP-1 subscription difficult to defend. [S3, S4]</a:t>
            </a:r>
          </a:p>
          <a:p xmlns:a="http://schemas.openxmlformats.org/drawingml/2006/main">
            <a:r>
              <a:t/>
            </a:r>
          </a:p>
          <a:p xmlns:a="http://schemas.openxmlformats.org/drawingml/2006/main">
            <a:r>
              <a:t>Pricing discovery</a:t>
            </a:r>
          </a:p>
          <a:p xmlns:a="http://schemas.openxmlformats.org/drawingml/2006/main">
            <a:r>
              <a:t>No current price, revenue or cancellation cohort was provided. Interview recent switchers about the subscriptions they actually paid for, then test a transparent offer with clear renewal terms. An illustrative $8–12 monthly range is only a research stimulus, not a recommendation to change prices. Use completed purchase and renewal behavior to validate willingness to pay. Avoid discount campaigns before the underlying experience improves.</a:t>
            </a:r>
          </a:p>
          <a:p xmlns:a="http://schemas.openxmlformats.org/drawingml/2006/main">
            <a:r>
              <a:t/>
            </a:r>
          </a:p>
          <a:p xmlns:a="http://schemas.openxmlformats.org/drawingml/2006/main">
            <a:r>
              <a:t>Cost envelope</a:t>
            </a:r>
          </a:p>
          <a:p xmlns:a="http://schemas.openxmlformats.org/drawingml/2006/main">
            <a:r>
              <a:t>Use 24 engineer-weeks as the 12 week capacity envelope, inclusive of the six-week effort reserve. Illustratively, at a loaded $4,000 per engineer-week, engineering costs $96,000. Add $36,000 for combined product and design effort at one full-time equivalent for 12 weeks at $3,000 per week, and $18,000 for clinical content, QA and vendors. The resulting $150,000 envelope is a planning scenario, not a quote or approved budget. Replace every rate with finance inputs.</a:t>
            </a:r>
          </a:p>
          <a:p xmlns:a="http://schemas.openxmlformats.org/drawingml/2006/main">
            <a:r>
              <a:t/>
            </a:r>
          </a:p>
          <a:p xmlns:a="http://schemas.openxmlformats.org/drawingml/2006/main">
            <a:r>
              <a:t>Unit economics guardrail</a:t>
            </a:r>
          </a:p>
          <a:p xmlns:a="http://schemas.openxmlformats.org/drawingml/2006/main">
            <a:r>
              <a:t>Track AI and food-provider spend per active user and per successfully confirmed assisted meal. As a scenario, 60 assisted meals at $0.02 each cost $1.20 per user-month before hosting, support, payment costs and taxes. With $10 of monthly recognized revenue, that leaves $8.80 before those other costs. Prices are illustrative, not vendor quotes. Use quotas, caching and a provider kill switch. Evaluate contribution margin using observed usage distribution, especially heavy users.</a:t>
            </a:r>
          </a:p>
          <a:p xmlns:a="http://schemas.openxmlformats.org/drawingml/2006/main">
            <a:r>
              <a:t/>
            </a:r>
          </a:p>
          <a:p xmlns:a="http://schemas.openxmlformats.org/drawingml/2006/main">
            <a:r>
              <a:t>Decision gates</a:t>
            </a:r>
          </a:p>
          <a:p xmlns:a="http://schemas.openxmlformats.org/drawingml/2006/main">
            <a:r>
              <a:t>Week 2: proceed if the target job and first flows validate, otherwise reprioritize logging. Week 6: expand if reliability and relevance pass, otherwise improve the manual and curated experience. Week 12: scale if mature retention evidence supports a worthwhile effect and the experience remains trustworthy. If the confidence interval includes no improvement, keep exposure limited or extend the experiment. Stop the differentiated bet if adequate data excludes a useful effect, even when engagement with the novelty looks strong.</a:t>
            </a:r>
          </a:p>
          <a:p xmlns:a="http://schemas.openxmlformats.org/drawingml/2006/main">
            <a:r>
              <a:t/>
            </a:r>
          </a:p>
          <a:p xmlns:a="http://schemas.openxmlformats.org/drawingml/2006/main">
            <a:r>
              <a:t>Next decisions for leadership</a:t>
            </a:r>
          </a:p>
          <a:p xmlns:a="http://schemas.openxmlformats.org/drawingml/2006/main">
            <a:r>
              <a:t>Confirm the initial audience, available team and real spending envelope. Appoint an owner for customer research and a clinical content reviewer. Approve only the first two weeks now, with subsequent scope governed by the gates above. This document proposes features and implementation work. It does not change production code or authorize a launch.</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OzempicAI product strategy and implementation</a:t>
            </a:r>
          </a:p>
          <a:p xmlns:a="http://schemas.openxmlformats.org/drawingml/2006/main">
            <a:r>
              <a:t>Recommendation</a:t>
            </a:r>
          </a:p>
          <a:p xmlns:a="http://schemas.openxmlformats.org/drawingml/2006/main">
            <a:r>
              <a:t>Fund a 12 week product program that makes daily nutrition easier for adults managing changing appetite, including people using prescribed GLP-1 medication. First repair incomplete planning and goal controls. Then test an appetite check-in that helps users choose a realistic next meal, remembers their preferences, and turns those choices into a flexible weekly plan. Keep basic tracking useful for people who do not use medication.</a:t>
            </a:r>
          </a:p>
          <a:p xmlns:a="http://schemas.openxmlformats.org/drawingml/2006/main">
            <a:r>
              <a:t/>
            </a:r>
          </a:p>
          <a:p xmlns:a="http://schemas.openxmlformats.org/drawingml/2006/main">
            <a:r>
              <a:t>Why this direction</a:t>
            </a:r>
          </a:p>
          <a:p xmlns:a="http://schemas.openxmlformats.org/drawingml/2006/main">
            <a:r>
              <a:t>The current repository provides authenticated manual logs and daily totals, but little help deciding what to do next. Lifesum already markets photo, voice, text and barcode logging. MyFitnessPal offers medication and side effect tracking, while Noom offers a GLP-1 companion. We should close essential usability gaps and compete on whether our suggestions fit a person's actual day. This positioning is a hypothesis to validate, not a claim of unique market ownership. [S1–S4]</a:t>
            </a:r>
          </a:p>
          <a:p xmlns:a="http://schemas.openxmlformats.org/drawingml/2006/main">
            <a:r>
              <a:t/>
            </a:r>
          </a:p>
          <a:p xmlns:a="http://schemas.openxmlformats.org/drawingml/2006/main">
            <a:r>
              <a:t>Decision requested</a:t>
            </a:r>
          </a:p>
          <a:p xmlns:a="http://schemas.openxmlformats.org/drawingml/2006/main">
            <a:r>
              <a:t>Approve a two week discovery and foundations phase within a provisional 12 week envelope. Assume two full-time engineers, a half-time product designer, a half-time product manager and fractional dietitian and QA support. Release later funding at weeks 2 and 6 against the evidence gates in this document. These are planning assumptions, not a statement about current staffing.</a:t>
            </a:r>
          </a:p>
          <a:p xmlns:a="http://schemas.openxmlformats.org/drawingml/2006/main">
            <a:r>
              <a:t/>
            </a:r>
          </a:p>
          <a:p xmlns:a="http://schemas.openxmlformats.org/drawingml/2006/main">
            <a:r>
              <a:t>Evidence and limits</a:t>
            </a:r>
          </a:p>
          <a:p xmlns:a="http://schemas.openxmlformats.org/drawingml/2006/main">
            <a:r>
              <a:t>Leadership reports losing customers to competitors. No production analytics, billing data, support archive or customer interviews were supplied. Findings below come from the local source at commit 4c029f7 and official public competitor documentation accessed September 13, 2026. The deployed app and database were not inspected. Customer segments, estimated effort, pricing and outcome targets are proposals rather than observed results.</a:t>
            </a:r>
          </a:p>
          <a:p xmlns:a="http://schemas.openxmlformats.org/drawingml/2006/main">
            <a:r>
              <a:t/>
            </a:r>
          </a:p>
          <a:p xmlns:a="http://schemas.openxmlformats.org/drawingml/2006/main">
            <a:r>
              <a:t>What success means</a:t>
            </a:r>
          </a:p>
          <a:p xmlns:a="http://schemas.openxmlformats.org/drawingml/2006/main">
            <a:r>
              <a:t>Improve the proportion of eligible users who return in week 4 to complete a useful nutrition action. Use a provisional target of five percentage points of absolute improvement versus a randomized holdout, with no material decline in trust, reliability or paid retention. Establish the baseline and feasible sample size before committing to that threshold.</a:t>
            </a:r>
          </a:p>
          <a:p xmlns:a="http://schemas.openxmlformats.org/drawingml/2006/main">
            <a:r>
              <a:t/>
            </a:r>
          </a:p>
          <a:p xmlns:a="http://schemas.openxmlformats.org/drawingml/2006/main">
            <a:r>
              <a:t>Current product and competitive context</a:t>
            </a:r>
          </a:p>
          <a:p xmlns:a="http://schemas.openxmlformats.org/drawingml/2006/main">
            <a:r>
              <a:t>What exists in this checkout</a:t>
            </a:r>
          </a:p>
          <a:p xmlns:a="http://schemas.openxmlformats.org/drawingml/2006/main">
            <a:r>
              <a:t>React 18, TypeScript and Vite provide an installable PWA. Supabase handles authentication and persisted logs, with React Query hooks for data access. Today shows calorie, water and exercise totals. Calories requires a food name and calorie number and supports deletion. Exercise captures duration and optional strength sets and repetitions. Weight and heart rate have dedicated logging screens. [R1–R4]</a:t>
            </a:r>
          </a:p>
          <a:p xmlns:a="http://schemas.openxmlformats.org/drawingml/2006/main">
            <a:r>
              <a:t/>
            </a:r>
          </a:p>
          <a:p xmlns:a="http://schemas.openxmlformats.org/drawingml/2006/main">
            <a:r>
              <a:t>Where the experience breaks</a:t>
            </a:r>
          </a:p>
          <a:p xmlns:a="http://schemas.openxmlformats.org/drawingml/2006/main">
            <a:r>
              <a:t>Plans renders only explanatory placeholder text and refers users to a Mac app that README says was retired. Profile exposes identity and sign-out but explicitly defers daily goal editing. Today falls back to 2,000 kcal and 2,500 ml and fixes exercise at 30 minutes. Food records have no protein, fiber, serving or nutrient provenance fields. These are observable product limitations, not proven churn causes. [R2–R5]</a:t>
            </a:r>
          </a:p>
          <a:p xmlns:a="http://schemas.openxmlformats.org/drawingml/2006/main">
            <a:r>
              <a:t/>
            </a:r>
          </a:p>
          <a:p xmlns:a="http://schemas.openxmlformats.org/drawingml/2006/main">
            <a:r>
              <a:t>Lifesum establishes the convenience baseline</a:t>
            </a:r>
          </a:p>
          <a:p xmlns:a="http://schemas.openxmlformats.org/drawingml/2006/main">
            <a:r>
              <a:t>Lifesum advertises multiple logging modes, meal plans, recipes and food feedback. It is therefore reasonable to expect customers to compare logging effort and planning utility. We should prioritize repeat meals and correction controls before assuming a camera interface alone creates value. Public feature pages do not establish real-world accuracy or competitor retention. [S1, S2]</a:t>
            </a:r>
          </a:p>
          <a:p xmlns:a="http://schemas.openxmlformats.org/drawingml/2006/main">
            <a:r>
              <a:t/>
            </a:r>
          </a:p>
          <a:p xmlns:a="http://schemas.openxmlformats.org/drawingml/2006/main">
            <a:r>
              <a:t>GLP-1 support is already competitive</a:t>
            </a:r>
          </a:p>
          <a:p xmlns:a="http://schemas.openxmlformats.org/drawingml/2006/main">
            <a:r>
              <a:t>MyFitnessPal's official announcement describes medication logs, reminders and side effect monitoring alongside nutrition, available to US users. Noom describes protein and muscle support in its GLP-1 companion and has announced a free version. A medication diary or protein ring can support our experience, but cannot carry our differentiation by itself. [S3, S4]</a:t>
            </a:r>
          </a:p>
          <a:p xmlns:a="http://schemas.openxmlformats.org/drawingml/2006/main">
            <a:r>
              <a:t/>
            </a:r>
          </a:p>
          <a:p xmlns:a="http://schemas.openxmlformats.org/drawingml/2006/main">
            <a:r>
              <a:t>Strategic choice</a:t>
            </a:r>
          </a:p>
          <a:p xmlns:a="http://schemas.openxmlformats.org/drawingml/2006/main">
            <a:r>
              <a:t>Focus initial recruitment on adults who say changing appetite makes meal decisions difficult. Test a daily loop of check-in, suggested meal, confirmation and weekly reflection. Defer a broad recipe marketplace, public social feed, fasting optimization and native wearable integrations until this loop demonstrates value. Review consumer naming and positioning before a broader launch rather than implying affiliation with a medication manufacturer.</a:t>
            </a:r>
          </a:p>
          <a:p xmlns:a="http://schemas.openxmlformats.org/drawingml/2006/main">
            <a:r>
              <a:t/>
            </a:r>
          </a:p>
          <a:p xmlns:a="http://schemas.openxmlformats.org/drawingml/2006/main">
            <a:r>
              <a:t>Repository sources: README.md, src/features/plans/PlansScreen.tsx, src/features/profile/ProfileScreen.tsx, src/types/db.ts. Commit 4c029f7.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product and competitive context</a:t>
            </a:r>
          </a:p>
          <a:p xmlns:a="http://schemas.openxmlformats.org/drawingml/2006/main">
            <a:r>
              <a:t>What exists in this checkout</a:t>
            </a:r>
          </a:p>
          <a:p xmlns:a="http://schemas.openxmlformats.org/drawingml/2006/main">
            <a:r>
              <a:t>React 18, TypeScript and Vite provide an installable PWA. Supabase handles authentication and persisted logs, with React Query hooks for data access. Today shows calorie, water and exercise totals. Calories requires a food name and calorie number and supports deletion. Exercise captures duration and optional strength sets and repetitions. Weight and heart rate have dedicated logging screens. [R1–R4]</a:t>
            </a:r>
          </a:p>
          <a:p xmlns:a="http://schemas.openxmlformats.org/drawingml/2006/main">
            <a:r>
              <a:t/>
            </a:r>
          </a:p>
          <a:p xmlns:a="http://schemas.openxmlformats.org/drawingml/2006/main">
            <a:r>
              <a:t>Where the experience breaks</a:t>
            </a:r>
          </a:p>
          <a:p xmlns:a="http://schemas.openxmlformats.org/drawingml/2006/main">
            <a:r>
              <a:t>Plans renders only explanatory placeholder text and refers users to a Mac app that README says was retired. Profile exposes identity and sign-out but explicitly defers daily goal editing. Today falls back to 2,000 kcal and 2,500 ml and fixes exercise at 30 minutes. Food records have no protein, fiber, serving or nutrient provenance fields. These are observable product limitations, not proven churn causes. [R2–R5]</a:t>
            </a:r>
          </a:p>
          <a:p xmlns:a="http://schemas.openxmlformats.org/drawingml/2006/main">
            <a:r>
              <a:t/>
            </a:r>
          </a:p>
          <a:p xmlns:a="http://schemas.openxmlformats.org/drawingml/2006/main">
            <a:r>
              <a:t>Lifesum establishes the convenience baseline</a:t>
            </a:r>
          </a:p>
          <a:p xmlns:a="http://schemas.openxmlformats.org/drawingml/2006/main">
            <a:r>
              <a:t>Lifesum advertises multiple logging modes, meal plans, recipes and food feedback. It is therefore reasonable to expect customers to compare logging effort and planning utility. We should prioritize repeat meals and correction controls before assuming a camera interface alone creates value. Public feature pages do not establish real-world accuracy or competitor retention. [S1, S2]</a:t>
            </a:r>
          </a:p>
          <a:p xmlns:a="http://schemas.openxmlformats.org/drawingml/2006/main">
            <a:r>
              <a:t/>
            </a:r>
          </a:p>
          <a:p xmlns:a="http://schemas.openxmlformats.org/drawingml/2006/main">
            <a:r>
              <a:t>GLP-1 support is already competitive</a:t>
            </a:r>
          </a:p>
          <a:p xmlns:a="http://schemas.openxmlformats.org/drawingml/2006/main">
            <a:r>
              <a:t>MyFitnessPal's official announcement describes medication logs, reminders and side effect monitoring alongside nutrition, available to US users. Noom describes protein and muscle support in its GLP-1 companion and has announced a free version. A medication diary or protein ring can support our experience, but cannot carry our differentiation by itself. [S3, S4]</a:t>
            </a:r>
          </a:p>
          <a:p xmlns:a="http://schemas.openxmlformats.org/drawingml/2006/main">
            <a:r>
              <a:t/>
            </a:r>
          </a:p>
          <a:p xmlns:a="http://schemas.openxmlformats.org/drawingml/2006/main">
            <a:r>
              <a:t>Strategic choice</a:t>
            </a:r>
          </a:p>
          <a:p xmlns:a="http://schemas.openxmlformats.org/drawingml/2006/main">
            <a:r>
              <a:t>Focus initial recruitment on adults who say changing appetite makes meal decisions difficult. Test a daily loop of check-in, suggested meal, confirmation and weekly reflection. Defer a broad recipe marketplace, public social feed, fasting optimization and native wearable integrations until this loop demonstrates value. Review consumer naming and positioning before a broader launch rather than implying affiliation with a medication manufacturer.</a:t>
            </a:r>
          </a:p>
          <a:p xmlns:a="http://schemas.openxmlformats.org/drawingml/2006/main">
            <a:r>
              <a:t/>
            </a:r>
          </a:p>
          <a:p xmlns:a="http://schemas.openxmlformats.org/drawingml/2006/main">
            <a:r>
              <a:t>Sources and evidence register</a:t>
            </a:r>
          </a:p>
          <a:p xmlns:a="http://schemas.openxmlformats.org/drawingml/2006/main">
            <a:r>
              <a:t>Repository evidence</a:t>
            </a:r>
          </a:p>
          <a:p xmlns:a="http://schemas.openxmlformats.org/drawingml/2006/main">
            <a:r>
              <a:t>Local checkout reviewed September 13, 2026 at commit 4c029f7. Paths are relative to /Users/mihirpatel/Downloads/OzempicAI. R1: README.md and package.json, platform and dependencies. R2: src/features/today/TodayScreen.tsx, current totals and goals. R3: src/features/calories/CalorieScreen.tsx and src/hooks/useCalorieLogs.ts, manual capture and mutations. R4: src/types/db.ts and src/features/exercise/ExerciseScreen.tsx, data model and strength fields. R5: src/features/plans/PlansScreen.tsx and src/features/profile/ProfileScreen.tsx, placeholders. R6: vite.config.ts and src/lib/date.ts, caching and local time handling. R7: supabase/migrations/00005_rls_policies_and_signup_trigger.sql, access policies. Planning notes in web-migration-plan.md informed context but were not treated as proof of implemented features.</a:t>
            </a:r>
          </a:p>
          <a:p xmlns:a="http://schemas.openxmlformats.org/drawingml/2006/main">
            <a:r>
              <a:t/>
            </a:r>
          </a:p>
          <a:p xmlns:a="http://schemas.openxmlformats.org/drawingml/2006/main">
            <a:r>
              <a:t>S1  Lifesum current product</a:t>
            </a:r>
          </a:p>
          <a:p xmlns:a="http://schemas.openxmlformats.org/drawingml/2006/main">
            <a:r>
              <a:t>https://lifesum.com/</a:t>
            </a:r>
          </a:p>
          <a:p xmlns:a="http://schemas.openxmlformats.org/drawingml/2006/main">
            <a:r>
              <a:t>Official overview of photo, voice, text, barcode and quick tracking. Accessed September 13, 2026.</a:t>
            </a:r>
          </a:p>
          <a:p xmlns:a="http://schemas.openxmlformats.org/drawingml/2006/main">
            <a:r>
              <a:t/>
            </a:r>
          </a:p>
          <a:p xmlns:a="http://schemas.openxmlformats.org/drawingml/2006/main">
            <a:r>
              <a:t>S2  Lifesum features</a:t>
            </a:r>
          </a:p>
          <a:p xmlns:a="http://schemas.openxmlformats.org/drawingml/2006/main">
            <a:r>
              <a:t>https://lifesum.com/features/</a:t>
            </a:r>
          </a:p>
          <a:p xmlns:a="http://schemas.openxmlformats.org/drawingml/2006/main">
            <a:r>
              <a:t>Official overview of plans, recipes and food feedback. Accessed September 13, 2026.</a:t>
            </a:r>
          </a:p>
          <a:p xmlns:a="http://schemas.openxmlformats.org/drawingml/2006/main">
            <a:r>
              <a:t/>
            </a:r>
          </a:p>
          <a:p xmlns:a="http://schemas.openxmlformats.org/drawingml/2006/main">
            <a:r>
              <a:t>S3  MyFitnessPal GLP 1 support</a:t>
            </a:r>
          </a:p>
          <a:p xmlns:a="http://schemas.openxmlformats.org/drawingml/2006/main">
            <a:r>
              <a:t>https://news.myfitnesspal.com/myfitnesspal-launches-glp-1-support-to-help-users-stay-consistent-and-build-habits-alongside-medication/</a:t>
            </a:r>
          </a:p>
          <a:p xmlns:a="http://schemas.openxmlformats.org/drawingml/2006/main">
            <a:r>
              <a:t>Official announcement of logging, reminders and side effect monitoring in the US. Accessed September 13, 2026.</a:t>
            </a:r>
          </a:p>
          <a:p xmlns:a="http://schemas.openxmlformats.org/drawingml/2006/main">
            <a:r>
              <a:t/>
            </a:r>
          </a:p>
          <a:p xmlns:a="http://schemas.openxmlformats.org/drawingml/2006/main">
            <a:r>
              <a:t>S4  Noom companion</a:t>
            </a:r>
          </a:p>
          <a:p xmlns:a="http://schemas.openxmlformats.org/drawingml/2006/main">
            <a:r>
              <a:t>https://www.noom.com/health/glp1companion/</a:t>
            </a:r>
          </a:p>
          <a:p xmlns:a="http://schemas.openxmlformats.org/drawingml/2006/main">
            <a:r>
              <a:t>https://www.noom.com/in-the-news/noom-launches-free-version-of-its-powerful-glp-1-companion/</a:t>
            </a:r>
          </a:p>
          <a:p xmlns:a="http://schemas.openxmlformats.org/drawingml/2006/main">
            <a:r>
              <a:t>Official product and free-version announcement. Accessed September 13, 2026.</a:t>
            </a:r>
          </a:p>
          <a:p xmlns:a="http://schemas.openxmlformats.org/drawingml/2006/main">
            <a:r>
              <a:t/>
            </a:r>
          </a:p>
          <a:p xmlns:a="http://schemas.openxmlformats.org/drawingml/2006/main">
            <a:r>
              <a:t>S5  NIDDK treatment context</a:t>
            </a:r>
          </a:p>
          <a:p xmlns:a="http://schemas.openxmlformats.org/drawingml/2006/main">
            <a:r>
              <a:t>https://www.niddk.nih.gov/health-information/weight-management/prescription-medications-treat-overweight-obesity</a:t>
            </a:r>
          </a:p>
          <a:p xmlns:a="http://schemas.openxmlformats.org/drawingml/2006/main">
            <a:r>
              <a:t>Health context for treatment boundaries, not a validated recommendation algorithm. Accessed September 13, 2026.</a:t>
            </a:r>
          </a:p>
          <a:p xmlns:a="http://schemas.openxmlformats.org/drawingml/2006/main">
            <a:r>
              <a:t/>
            </a:r>
          </a:p>
          <a:p xmlns:a="http://schemas.openxmlformats.org/drawingml/2006/main">
            <a:r>
              <a:t>S6 to S8  Technical references</a:t>
            </a:r>
          </a:p>
          <a:p xmlns:a="http://schemas.openxmlformats.org/drawingml/2006/main">
            <a:r>
              <a:t>S6: https://supabase.com/docs/guides/functions</a:t>
            </a:r>
          </a:p>
          <a:p xmlns:a="http://schemas.openxmlformats.org/drawingml/2006/main">
            <a:r>
              <a:t>S7: https://supabase.com/docs/guides/database/postgres/row-level-security</a:t>
            </a:r>
          </a:p>
          <a:p xmlns:a="http://schemas.openxmlformats.org/drawingml/2006/main">
            <a:r>
              <a:t>S8: https://developer.apple.com/documentation/healthkit</a:t>
            </a:r>
          </a:p>
          <a:p xmlns:a="http://schemas.openxmlformats.org/drawingml/2006/main">
            <a:r>
              <a:t>Official architecture and access-control references. Accessed September 13, 2026. Proposed APIs and schemas in this document remain designs and require implementation validation.</a:t>
            </a:r>
          </a:p>
          <a:p xmlns:a="http://schemas.openxmlformats.org/drawingml/2006/main">
            <a:r>
              <a:t/>
            </a:r>
          </a:p>
          <a:p xmlns:a="http://schemas.openxmlformats.org/drawingml/2006/main">
            <a:r>
              <a:t>Official sources accessed September 13, 2026. https://lifesum.com/ https://lifesum.com/features/ https://news.myfitnesspal.com/myfitnesspal-launches-glp-1-support-to-help-users-stay-consistent-and-build-habits-alongside-medication/ https://www.noom.com/health/glp1companion/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 discovery and product principles</a:t>
            </a:r>
          </a:p>
          <a:p xmlns:a="http://schemas.openxmlformats.org/drawingml/2006/main">
            <a:r>
              <a:t>The priority job</a:t>
            </a:r>
          </a:p>
          <a:p xmlns:a="http://schemas.openxmlformats.org/drawingml/2006/main">
            <a:r>
              <a:t>When I have little appetite or my usual meal no longer appeals, help me find something practical I can eat today and remember what worked. This is a proposed job, inferred from the project context and competitive research. It must earn priority through customer evidence.</a:t>
            </a:r>
          </a:p>
          <a:p xmlns:a="http://schemas.openxmlformats.org/drawingml/2006/main">
            <a:r>
              <a:t/>
            </a:r>
          </a:p>
          <a:p xmlns:a="http://schemas.openxmlformats.org/drawingml/2006/main">
            <a:r>
              <a:t>Three recruitment groups</a:t>
            </a:r>
          </a:p>
          <a:p xmlns:a="http://schemas.openxmlformats.org/drawingml/2006/main">
            <a:r>
              <a:t>Interview six recently lapsed users who switched tools, six retained users and six new or struggling users. Within those groups, include medication users and people not using medication, varied food preferences and different levels of tracking experience. Ask participants to reconstruct their last difficult meal decision and demonstrate their current workaround. Do not prompt them to endorse an AI coach.</a:t>
            </a:r>
          </a:p>
          <a:p xmlns:a="http://schemas.openxmlformats.org/drawingml/2006/main">
            <a:r>
              <a:t/>
            </a:r>
          </a:p>
          <a:p xmlns:a="http://schemas.openxmlformats.org/drawingml/2006/main">
            <a:r>
              <a:t>The first two weeks</a:t>
            </a:r>
          </a:p>
          <a:p xmlns:a="http://schemas.openxmlformats.org/drawingml/2006/main">
            <a:r>
              <a:t>With permission, observe eight task sessions covering meal entry, correction, setting goals and planning tomorrow. Use synthetic foods and accounts where practical. Ask switchers what happened immediately before leaving, what they gained elsewhere and what they would lose by returning. Reconcile interview themes with activation funnels and account age. Eighteen interviews reveal patterns, not market prevalence.</a:t>
            </a:r>
          </a:p>
          <a:p xmlns:a="http://schemas.openxmlformats.org/drawingml/2006/main">
            <a:r>
              <a:t/>
            </a:r>
          </a:p>
          <a:p xmlns:a="http://schemas.openxmlformats.org/drawingml/2006/main">
            <a:r>
              <a:t>Proceed and stop criteria</a:t>
            </a:r>
          </a:p>
          <a:p xmlns:a="http://schemas.openxmlformats.org/drawingml/2006/main">
            <a:r>
              <a:t>Proceed with the appetite proposition if at least six of ten recruited target-segment concept testers independently describe the job as frequent and at least seven can choose and save a suitable meal without help. Treat these as qualitative gates, not statistical proof. If faster logging dominates the evidence, move meal capture ahead of personalization. If trust or relevance fails, keep human-curated suggestions and revise the concept.</a:t>
            </a:r>
          </a:p>
          <a:p xmlns:a="http://schemas.openxmlformats.org/drawingml/2006/main">
            <a:r>
              <a:t/>
            </a:r>
          </a:p>
          <a:p xmlns:a="http://schemas.openxmlformats.org/drawingml/2006/main">
            <a:r>
              <a:t>Experience principles</a:t>
            </a:r>
          </a:p>
          <a:p xmlns:a="http://schemas.openxmlformats.org/drawingml/2006/main">
            <a:r>
              <a:t>Every suggestion must be editable or dismissible. Ask for the smallest amount of information that changes the recommendation. Show incomplete nutrition as unknown rather than zero. Let users hide calorie and weight emphasis. Celebrate useful actions without streak loss, public weight rankings or rewards for eating less. Preserve access to personal history and export when a subscription ends.</a:t>
            </a:r>
          </a:p>
          <a:p xmlns:a="http://schemas.openxmlformats.org/drawingml/2006/main">
            <a:r>
              <a:t/>
            </a:r>
          </a:p>
          <a:p xmlns:a="http://schemas.openxmlformats.org/drawingml/2006/main">
            <a:r>
              <a:t>Evidence collection</a:t>
            </a:r>
          </a:p>
          <a:p xmlns:a="http://schemas.openxmlformats.org/drawingml/2006/main">
            <a:r>
              <a:t>Instrument first log, failed save, correction, plan creation, plan use and return visits. Add an optional cancellation reason and a short in-product usefulness question. Never put meal text, symptoms, medication details, email or photos into general analytics. Analyze aggregate cohorts, and seek permission separately for customer research recordings.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Priority features for daily usefulness</a:t>
            </a:r>
          </a:p>
          <a:p xmlns:a="http://schemas.openxmlformats.org/drawingml/2006/main">
            <a:r>
              <a:t>F1  My Day and quick repeat</a:t>
            </a:r>
          </a:p>
          <a:p xmlns:a="http://schemas.openxmlformats.org/drawingml/2006/main">
            <a:r>
              <a:t>Improve Today into a user-configurable home screen with editable goals, a prominent repeat-last-meal action and entry correction. Example: a user saves a familiar breakfast once, then adds it tomorrow with its previous portion and can change the amount. Replace the Plans placeholder immediately with a useful editable starter plan. This repairs the most obvious reasons to abandon a session.</a:t>
            </a:r>
          </a:p>
          <a:p xmlns:a="http://schemas.openxmlformats.org/drawingml/2006/main">
            <a:r>
              <a:t/>
            </a:r>
          </a:p>
          <a:p xmlns:a="http://schemas.openxmlformats.org/drawingml/2006/main">
            <a:r>
              <a:t>F1  Technical implementation and release test</a:t>
            </a:r>
          </a:p>
          <a:p xmlns:a="http://schemas.openxmlformats.org/drawingml/2006/main">
            <a:r>
              <a:t>Extend ProfileScreen and useUserProfile with a validated update mutation and explicit goal origin. Add useUpdateCalorieLog and a date selector to CalorieScreen. Add nullable nutrient fields to calorie_logs, a favorite_meals table and a client_request_id uniqueness constraint per user. Keep old calorie-only rows valid and display missing macros as unknown. Update Today and useDailyTotals to show coverage. Test saving, editing, deleting and replaying the same request, plus local midnight and daylight-saving boundaries. Target repeat logging under 10 seconds in usability tests. Estimate 2–3 engineer-weeks.</a:t>
            </a:r>
          </a:p>
          <a:p xmlns:a="http://schemas.openxmlformats.org/drawingml/2006/main">
            <a:r>
              <a:t/>
            </a:r>
          </a:p>
          <a:p xmlns:a="http://schemas.openxmlformats.org/drawingml/2006/main">
            <a:r>
              <a:t>F2  Appetite Compass</a:t>
            </a:r>
          </a:p>
          <a:p xmlns:a="http://schemas.openxmlformats.org/drawingml/2006/main">
            <a:r>
              <a:t>Offer an optional check-in for appetite, available time and preferred meal size. Show two or three reviewed meal options that meet stated preferences. A low-appetite user might pick a smaller portion, save the rest for later, or choose another texture. Ask whether the meal worked and make that answer useful next time. Avoid inferring medication effects or lowering nutrition goals from a check-in.</a:t>
            </a:r>
          </a:p>
          <a:p xmlns:a="http://schemas.openxmlformats.org/drawingml/2006/main">
            <a:r>
              <a:t/>
            </a:r>
          </a:p>
          <a:p xmlns:a="http://schemas.openxmlformats.org/drawingml/2006/main">
            <a:r>
              <a:t>F2  Technical implementation and release test</a:t>
            </a:r>
          </a:p>
          <a:p xmlns:a="http://schemas.openxmlformats.org/drawingml/2006/main">
            <a:r>
              <a:t>Add check_ins, recipe_versions, recipe_tags, user_food_preferences and recommendation_feedback. A server function applies allergy exclusions and content eligibility first, then ranks reviewed recipes by explicit preferences, prep time and prior feedback. Store recommendation ID, rules version and reason codes. Start with deterministic rules and 30–50 dietitian-reviewed options. Optional symptom journaling stays separate and never drives treatment advice. Test allergy exclusions, missing goals, sparse history and rejected suggestions. Measure accepted suggestions and perceived usefulness, with W4 retention as the ultimate test. Estimate 3–4 engineer-weeks plus clinical content review.</a:t>
            </a:r>
          </a:p>
          <a:p xmlns:a="http://schemas.openxmlformats.org/drawingml/2006/main">
            <a:r>
              <a:t/>
            </a:r>
          </a:p>
          <a:p xmlns:a="http://schemas.openxmlformats.org/drawingml/2006/main">
            <a:r>
              <a:t>Why these belong together</a:t>
            </a:r>
          </a:p>
          <a:p xmlns:a="http://schemas.openxmlformats.org/drawingml/2006/main">
            <a:r>
              <a:t>Quick repeat makes the app easier to use today. Appetite Compass makes today's experience worth returning to. A technically impressive recommendation engine will fail if logging and correction still feel cumbersome.</a:t>
            </a:r>
          </a:p>
          <a:p xmlns:a="http://schemas.openxmlformats.org/drawingml/2006/main">
            <a:r>
              <a:t/>
            </a:r>
          </a:p>
          <a:p xmlns:a="http://schemas.openxmlformats.org/drawingml/2006/main">
            <a:r>
              <a:t>Illustrative proposed flow, not an existing feature or medical recommendation. Curated rules first. No inference about medication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Priority features for daily usefulness</a:t>
            </a:r>
          </a:p>
          <a:p xmlns:a="http://schemas.openxmlformats.org/drawingml/2006/main">
            <a:r>
              <a:t>F1  My Day and quick repeat</a:t>
            </a:r>
          </a:p>
          <a:p xmlns:a="http://schemas.openxmlformats.org/drawingml/2006/main">
            <a:r>
              <a:t>Improve Today into a user-configurable home screen with editable goals, a prominent repeat-last-meal action and entry correction. Example: a user saves a familiar breakfast once, then adds it tomorrow with its previous portion and can change the amount. Replace the Plans placeholder immediately with a useful editable starter plan. This repairs the most obvious reasons to abandon a session.</a:t>
            </a:r>
          </a:p>
          <a:p xmlns:a="http://schemas.openxmlformats.org/drawingml/2006/main">
            <a:r>
              <a:t/>
            </a:r>
          </a:p>
          <a:p xmlns:a="http://schemas.openxmlformats.org/drawingml/2006/main">
            <a:r>
              <a:t>F1  Technical implementation and release test</a:t>
            </a:r>
          </a:p>
          <a:p xmlns:a="http://schemas.openxmlformats.org/drawingml/2006/main">
            <a:r>
              <a:t>Extend ProfileScreen and useUserProfile with a validated update mutation and explicit goal origin. Add useUpdateCalorieLog and a date selector to CalorieScreen. Add nullable nutrient fields to calorie_logs, a favorite_meals table and a client_request_id uniqueness constraint per user. Keep old calorie-only rows valid and display missing macros as unknown. Update Today and useDailyTotals to show coverage. Test saving, editing, deleting and replaying the same request, plus local midnight and daylight-saving boundaries. Target repeat logging under 10 seconds in usability tests. Estimate 2–3 engineer-weeks.</a:t>
            </a:r>
          </a:p>
          <a:p xmlns:a="http://schemas.openxmlformats.org/drawingml/2006/main">
            <a:r>
              <a:t/>
            </a:r>
          </a:p>
          <a:p xmlns:a="http://schemas.openxmlformats.org/drawingml/2006/main">
            <a:r>
              <a:t>F2  Appetite Compass</a:t>
            </a:r>
          </a:p>
          <a:p xmlns:a="http://schemas.openxmlformats.org/drawingml/2006/main">
            <a:r>
              <a:t>Offer an optional check-in for appetite, available time and preferred meal size. Show two or three reviewed meal options that meet stated preferences. A low-appetite user might pick a smaller portion, save the rest for later, or choose another texture. Ask whether the meal worked and make that answer useful next time. Avoid inferring medication effects or lowering nutrition goals from a check-in.</a:t>
            </a:r>
          </a:p>
          <a:p xmlns:a="http://schemas.openxmlformats.org/drawingml/2006/main">
            <a:r>
              <a:t/>
            </a:r>
          </a:p>
          <a:p xmlns:a="http://schemas.openxmlformats.org/drawingml/2006/main">
            <a:r>
              <a:t>F2  Technical implementation and release test</a:t>
            </a:r>
          </a:p>
          <a:p xmlns:a="http://schemas.openxmlformats.org/drawingml/2006/main">
            <a:r>
              <a:t>Add check_ins, recipe_versions, recipe_tags, user_food_preferences and recommendation_feedback. A server function applies allergy exclusions and content eligibility first, then ranks reviewed recipes by explicit preferences, prep time and prior feedback. Store recommendation ID, rules version and reason codes. Start with deterministic rules and 30–50 dietitian-reviewed options. Optional symptom journaling stays separate and never drives treatment advice. Test allergy exclusions, missing goals, sparse history and rejected suggestions. Measure accepted suggestions and perceived usefulness, with W4 retention as the ultimate test. Estimate 3–4 engineer-weeks plus clinical content review.</a:t>
            </a:r>
          </a:p>
          <a:p xmlns:a="http://schemas.openxmlformats.org/drawingml/2006/main">
            <a:r>
              <a:t/>
            </a:r>
          </a:p>
          <a:p xmlns:a="http://schemas.openxmlformats.org/drawingml/2006/main">
            <a:r>
              <a:t>Why these belong together</a:t>
            </a:r>
          </a:p>
          <a:p xmlns:a="http://schemas.openxmlformats.org/drawingml/2006/main">
            <a:r>
              <a:t>Quick repeat makes the app easier to use today. Appetite Compass makes today's experience worth returning to. A technically impressive recommendation engine will fail if logging and correction still feel cumbersome.</a:t>
            </a:r>
          </a:p>
          <a:p xmlns:a="http://schemas.openxmlformats.org/drawingml/2006/main">
            <a:r>
              <a:t/>
            </a:r>
          </a:p>
          <a:p xmlns:a="http://schemas.openxmlformats.org/drawingml/2006/main">
            <a:r>
              <a:t>Features that make planning flexible</a:t>
            </a:r>
          </a:p>
          <a:p xmlns:a="http://schemas.openxmlformats.org/drawingml/2006/main">
            <a:r>
              <a:t>F3  Flexible Week and Rescue Meal</a:t>
            </a:r>
          </a:p>
          <a:p xmlns:a="http://schemas.openxmlformats.org/drawingml/2006/main">
            <a:r>
              <a:t>Turn Plans into a three-day editable meal plan with leftovers and an aggregated grocery checklist. A Rescue Meal action replaces just one meal when appetite, time or ingredients change. Preserve other meals and user edits. Example: a dinner requiring 40 minutes becomes a saved 10-minute option, and the grocery delta appears for confirmation. Familiar household food and smaller optional portions are more useful than a rigid perfect week.</a:t>
            </a:r>
          </a:p>
          <a:p xmlns:a="http://schemas.openxmlformats.org/drawingml/2006/main">
            <a:r>
              <a:t/>
            </a:r>
          </a:p>
          <a:p xmlns:a="http://schemas.openxmlformats.org/drawingml/2006/main">
            <a:r>
              <a:t>F3  Technical implementation and release test</a:t>
            </a:r>
          </a:p>
          <a:p xmlns:a="http://schemas.openxmlformats.org/drawingml/2006/main">
            <a:r>
              <a:t>Reuse meal_plans and grocery_items, adding recipe_version_id, servings, plan_version and a meal_plan_items relation. Store structured ingredients with canonical IDs and compatible units. Use a transactional server operation to apply one confirmed swap and recalculate the affected grocery quantities. Do not combine incompatible units or infer household allergies from one user. Offer undo through a plan revision. Preserve purchased items and manual additions. Test concurrent edits, duplicate ingredients, deleted recipes and repeated requests. Measure planned meals actually used, not just plans generated. Estimate 3–4 engineer-weeks, dependent on F1 and the reviewed recipe catalog.</a:t>
            </a:r>
          </a:p>
          <a:p xmlns:a="http://schemas.openxmlformats.org/drawingml/2006/main">
            <a:r>
              <a:t/>
            </a:r>
          </a:p>
          <a:p xmlns:a="http://schemas.openxmlformats.org/drawingml/2006/main">
            <a:r>
              <a:t>F4  Meal Memory with assisted capture</a:t>
            </a:r>
          </a:p>
          <a:p xmlns:a="http://schemas.openxmlformats.org/drawingml/2006/main">
            <a:r>
              <a:t>Let users describe or photograph a meal, review the suggested foods and portions, and save the corrected version for reuse. Personal corrections take precedence the next time. Begin with repeat meals and text-assisted search. Introduce photo input only if it reduces total time including corrections. Voice is a later input option, subject to browser support and actual demand.</a:t>
            </a:r>
          </a:p>
          <a:p xmlns:a="http://schemas.openxmlformats.org/drawingml/2006/main">
            <a:r>
              <a:t/>
            </a:r>
          </a:p>
          <a:p xmlns:a="http://schemas.openxmlformats.org/drawingml/2006/main">
            <a:r>
              <a:t>F4  Technical implementation and release test</a:t>
            </a:r>
          </a:p>
          <a:p xmlns:a="http://schemas.openxmlformats.org/drawingml/2006/main">
            <a:r>
              <a:t>Add food_catalog_refs, meal_items and inference_jobs. A provider-neutral server adapter resolves food candidates against a licensed nutrition source and returns structured estimates with source, portion and uncertainty. The model never writes committed logs. A separate confirmation request saves the reviewed items and a meal total atomically. Keep provider secrets on the server, use short-lived private image access and delete transient media after processing or a documented expiry. Display approximate values and request clarification when portions are ambiguous. Manual capture remains available after timeout. Estimate 4–6 engineer-weeks after F1.</a:t>
            </a:r>
          </a:p>
          <a:p xmlns:a="http://schemas.openxmlformats.org/drawingml/2006/main">
            <a:r>
              <a:t/>
            </a:r>
          </a:p>
          <a:p xmlns:a="http://schemas.openxmlformats.org/drawingml/2006/main">
            <a:r>
              <a:t>F4  Quality gate</a:t>
            </a:r>
          </a:p>
          <a:p xmlns:a="http://schemas.openxmlformats.org/drawingml/2006/main">
            <a:r>
              <a:t>Benchmark on 100 consented or licensed representative meals with reviewed references, including mixed dishes and regional foods. Measure correction time, severe portion errors and nutrient error distributions. Define acceptable error with the dietitian before testing. Gate broader rollout on improved task completion time and no unconfirmed saves. Do not market nutritional precision from a photo.</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 that make planning flexible</a:t>
            </a:r>
          </a:p>
          <a:p xmlns:a="http://schemas.openxmlformats.org/drawingml/2006/main">
            <a:r>
              <a:t>F3  Flexible Week and Rescue Meal</a:t>
            </a:r>
          </a:p>
          <a:p xmlns:a="http://schemas.openxmlformats.org/drawingml/2006/main">
            <a:r>
              <a:t>Turn Plans into a three-day editable meal plan with leftovers and an aggregated grocery checklist. A Rescue Meal action replaces just one meal when appetite, time or ingredients change. Preserve other meals and user edits. Example: a dinner requiring 40 minutes becomes a saved 10-minute option, and the grocery delta appears for confirmation. Familiar household food and smaller optional portions are more useful than a rigid perfect week.</a:t>
            </a:r>
          </a:p>
          <a:p xmlns:a="http://schemas.openxmlformats.org/drawingml/2006/main">
            <a:r>
              <a:t/>
            </a:r>
          </a:p>
          <a:p xmlns:a="http://schemas.openxmlformats.org/drawingml/2006/main">
            <a:r>
              <a:t>F3  Technical implementation and release test</a:t>
            </a:r>
          </a:p>
          <a:p xmlns:a="http://schemas.openxmlformats.org/drawingml/2006/main">
            <a:r>
              <a:t>Reuse meal_plans and grocery_items, adding recipe_version_id, servings, plan_version and a meal_plan_items relation. Store structured ingredients with canonical IDs and compatible units. Use a transactional server operation to apply one confirmed swap and recalculate the affected grocery quantities. Do not combine incompatible units or infer household allergies from one user. Offer undo through a plan revision. Preserve purchased items and manual additions. Test concurrent edits, duplicate ingredients, deleted recipes and repeated requests. Measure planned meals actually used, not just plans generated. Estimate 3–4 engineer-weeks, dependent on F1 and the reviewed recipe catalog.</a:t>
            </a:r>
          </a:p>
          <a:p xmlns:a="http://schemas.openxmlformats.org/drawingml/2006/main">
            <a:r>
              <a:t/>
            </a:r>
          </a:p>
          <a:p xmlns:a="http://schemas.openxmlformats.org/drawingml/2006/main">
            <a:r>
              <a:t>F4  Meal Memory with assisted capture</a:t>
            </a:r>
          </a:p>
          <a:p xmlns:a="http://schemas.openxmlformats.org/drawingml/2006/main">
            <a:r>
              <a:t>Let users describe or photograph a meal, review the suggested foods and portions, and save the corrected version for reuse. Personal corrections take precedence the next time. Begin with repeat meals and text-assisted search. Introduce photo input only if it reduces total time including corrections. Voice is a later input option, subject to browser support and actual demand.</a:t>
            </a:r>
          </a:p>
          <a:p xmlns:a="http://schemas.openxmlformats.org/drawingml/2006/main">
            <a:r>
              <a:t/>
            </a:r>
          </a:p>
          <a:p xmlns:a="http://schemas.openxmlformats.org/drawingml/2006/main">
            <a:r>
              <a:t>F4  Technical implementation and release test</a:t>
            </a:r>
          </a:p>
          <a:p xmlns:a="http://schemas.openxmlformats.org/drawingml/2006/main">
            <a:r>
              <a:t>Add food_catalog_refs, meal_items and inference_jobs. A provider-neutral server adapter resolves food candidates against a licensed nutrition source and returns structured estimates with source, portion and uncertainty. The model never writes committed logs. A separate confirmation request saves the reviewed items and a meal total atomically. Keep provider secrets on the server, use short-lived private image access and delete transient media after processing or a documented expiry. Display approximate values and request clarification when portions are ambiguous. Manual capture remains available after timeout. Estimate 4–6 engineer-weeks after F1.</a:t>
            </a:r>
          </a:p>
          <a:p xmlns:a="http://schemas.openxmlformats.org/drawingml/2006/main">
            <a:r>
              <a:t/>
            </a:r>
          </a:p>
          <a:p xmlns:a="http://schemas.openxmlformats.org/drawingml/2006/main">
            <a:r>
              <a:t>F4  Quality gate</a:t>
            </a:r>
          </a:p>
          <a:p xmlns:a="http://schemas.openxmlformats.org/drawingml/2006/main">
            <a:r>
              <a:t>Benchmark on 100 consented or licensed representative meals with reviewed references, including mixed dishes and regional foods. Measure correction time, severe portion errors and nutrient error distributions. Define acceptable error with the dietitian before testing. Gate broader rollout on improved task completion time and no unconfirmed saves. Do not market nutritional precision from a photo.</a:t>
            </a:r>
          </a:p>
          <a:p xmlns:a="http://schemas.openxmlformats.org/drawingml/2006/main">
            <a:r>
              <a:t/>
            </a:r>
          </a:p>
          <a:p xmlns:a="http://schemas.openxmlformats.org/drawingml/2006/main">
            <a:r>
              <a:t>Features that support lasting progress</a:t>
            </a:r>
          </a:p>
          <a:p xmlns:a="http://schemas.openxmlformats.org/drawingml/2006/main">
            <a:r>
              <a:t>F5  Strength and daily life wins</a:t>
            </a:r>
          </a:p>
          <a:p xmlns:a="http://schemas.openxmlformats.org/drawingml/2006/main">
            <a:r>
              <a:t>Expand progress beyond the scale with private milestones such as a completed strength session, improved confidence preparing meals or a self-reported daily activity becoming easier. Let users choose what matters and hide weight charts. Offer short reviewed movement routines with ability and equipment filters. This is a hypothesis about motivation, not a claim that the app measures muscle preservation.</a:t>
            </a:r>
          </a:p>
          <a:p xmlns:a="http://schemas.openxmlformats.org/drawingml/2006/main">
            <a:r>
              <a:t/>
            </a:r>
          </a:p>
          <a:p xmlns:a="http://schemas.openxmlformats.org/drawingml/2006/main">
            <a:r>
              <a:t>F5  Technical implementation and release test</a:t>
            </a:r>
          </a:p>
          <a:p xmlns:a="http://schemas.openxmlformats.org/drawingml/2006/main">
            <a:r>
              <a:t>Reuse exercise_logs, including its existing sets and reps fields. Add workout_templates, workout_sessions and user_milestones, with optional exertion and exercise load units. Show trends only across comparable exercises. Build a progress view with dates, missing-data states and a user-selected milestone. Test unit conversion and incomplete sessions. Measure repeat participation and usefulness, and avoid equating exercise minutes or weight trends with muscle mass. Estimate 2–3 engineer-weeks after the core release.</a:t>
            </a:r>
          </a:p>
          <a:p xmlns:a="http://schemas.openxmlformats.org/drawingml/2006/main">
            <a:r>
              <a:t/>
            </a:r>
          </a:p>
          <a:p xmlns:a="http://schemas.openxmlformats.org/drawingml/2006/main">
            <a:r>
              <a:t>F6  Weekly Story and visit brief</a:t>
            </a:r>
          </a:p>
          <a:p xmlns:a="http://schemas.openxmlformats.org/drawingml/2006/main">
            <a:r>
              <a:t>Give users a concise weekly reflection explaining what they logged, what felt workable and one optional experiment for next week. Offer a user-reviewed export for a healthcare visit, with nutrition coverage, weight history and optional symptom notes. Example: a user sees that two saved lunches were repeatedly marked helpful, then chooses to reuse one. No diagnosis or causal attribution appears.</a:t>
            </a:r>
          </a:p>
          <a:p xmlns:a="http://schemas.openxmlformats.org/drawingml/2006/main">
            <a:r>
              <a:t/>
            </a:r>
          </a:p>
          <a:p xmlns:a="http://schemas.openxmlformats.org/drawingml/2006/main">
            <a:r>
              <a:t>F6  Technical implementation and release test</a:t>
            </a:r>
          </a:p>
          <a:p xmlns:a="http://schemas.openxmlformats.org/drawingml/2006/main">
            <a:r>
              <a:t>Create a weekly aggregate job over authorized user records and save snapshots in weekly_reviews with source row IDs and rules version. Use templates first, adding language generation only for summaries of verified facts. Distinguish unlogged days from zero intake and suppress thin-data conclusions. Generate exports on demand in private storage with short expiry. Let users remove fields before download. Never automatically send reports to clinicians. Test source-to-summary consistency, deleted-record handling and cross-account export denial. Estimate 2–3 engineer-weeks.</a:t>
            </a:r>
          </a:p>
          <a:p xmlns:a="http://schemas.openxmlformats.org/drawingml/2006/main">
            <a:r>
              <a:t/>
            </a:r>
          </a:p>
          <a:p xmlns:a="http://schemas.openxmlformats.org/drawingml/2006/main">
            <a:r>
              <a:t>F7  Gentle return and maintenance mode</a:t>
            </a:r>
          </a:p>
          <a:p xmlns:a="http://schemas.openxmlformats.org/drawingml/2006/main">
            <a:r>
              <a:t>When someone returns after a gap, offer one familiar action and keep their history. A maintenance preference changes emphasis toward routines and confidence instead of continual weight loss. Add user-controlled reminder frequency, quiet hours and pause. Implement lifecycle_preferences, user_action_days and server-side delivery deduplication. Notifications use neutral text. No medication stopping or tapering recommendations. Measure seven-day return after re-entry against a holdout, plus notification opt-outs. Estimate 1–2 engineer-weeks, with F6 reuse.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and data implementation</a:t>
            </a:r>
          </a:p>
          <a:p xmlns:a="http://schemas.openxmlformats.org/drawingml/2006/main">
            <a:r>
              <a:t>Build on the current stack</a:t>
            </a:r>
          </a:p>
          <a:p xmlns:a="http://schemas.openxmlformats.org/drawingml/2006/main">
            <a:r>
              <a:t>Keep React, Vite, React Query and Supabase. Add feature modules for check-ins, recipes, progress and weekly reviews following the existing hooks pattern. Basic authorized CRUD can use the existing Supabase client. Server functions handle external providers, recommendation rules and privileged jobs. A provider failure must never prevent manual logging. Current PWA configuration caches the app shell and fonts but does not implement durable queued health-data writes. [R1, R6, S6]</a:t>
            </a:r>
          </a:p>
          <a:p xmlns:a="http://schemas.openxmlformats.org/drawingml/2006/main">
            <a:r>
              <a:t/>
            </a:r>
          </a:p>
          <a:p xmlns:a="http://schemas.openxmlformats.org/drawingml/2006/main">
            <a:r>
              <a:t>Data contract</a:t>
            </a:r>
          </a:p>
          <a:p xmlns:a="http://schemas.openxmlformats.org/drawingml/2006/main">
            <a:r>
              <a:t>Extend calorie_logs additively with protein_g, fiber_g, carbs_g, fat_g, source, confirmed_at, client_request_id and an optional meal_items relation. Nutrients are nullable nonnegative numerics, with null meaning unknown. Keep calories as the compatible meal total. Store units and serving factors on meal items, plus the source version used at confirmation. Add preferences for timezone, chosen goals, goal source, calorie visibility and reminder consent. Do not silently convert existing default goals into personalized recommendations.</a:t>
            </a:r>
          </a:p>
          <a:p xmlns:a="http://schemas.openxmlformats.org/drawingml/2006/main">
            <a:r>
              <a:t/>
            </a:r>
          </a:p>
          <a:p xmlns:a="http://schemas.openxmlformats.org/drawingml/2006/main">
            <a:r>
              <a:t>Request contracts</a:t>
            </a:r>
          </a:p>
          <a:p xmlns:a="http://schemas.openxmlformats.org/drawingml/2006/main">
            <a:r>
              <a:t>Proposed POST /meal-estimates accepts text or a private media reference plus request_id and returns candidate foods, quantities, provenance and requires_confirmation. POST /meals/confirm accepts reviewed items, logged_at and request_id and returns the committed meal ID. POST /recommendations accepts check_in_id and returns eligible recipe IDs with reason codes and rules_version. POST /plans/swap accepts plan_id, expected_version and a replacement and returns the new version and grocery delta. Derive user identity from verified authentication, never trust a supplied user_id.</a:t>
            </a:r>
          </a:p>
          <a:p xmlns:a="http://schemas.openxmlformats.org/drawingml/2006/main">
            <a:r>
              <a:t/>
            </a:r>
          </a:p>
          <a:p xmlns:a="http://schemas.openxmlformats.org/drawingml/2006/main">
            <a:r>
              <a:t>Consistency and migration</a:t>
            </a:r>
          </a:p>
          <a:p xmlns:a="http://schemas.openxmlformats.org/drawingml/2006/main">
            <a:r>
              <a:t>Use a database transaction or narrowly scoped RPC for meal plus item creation and plan swaps. A unique user_id and request_id pair prevents retry duplicates. Reject stale plan versions with a conflict response. Index user-owned histories by user_id and event timestamp. Add schema and policies before deploying readers, backfill only known values, then enable writers behind flags. Keep old clients working through additive fields. Validate totals against original logs and never reconstruct unknown macros from calories.</a:t>
            </a:r>
          </a:p>
          <a:p xmlns:a="http://schemas.openxmlformats.org/drawingml/2006/main">
            <a:r>
              <a:t/>
            </a:r>
          </a:p>
          <a:p xmlns:a="http://schemas.openxmlformats.org/drawingml/2006/main">
            <a:r>
              <a:t>Offline and time handling</a:t>
            </a:r>
          </a:p>
          <a:p xmlns:a="http://schemas.openxmlformats.org/drawingml/2006/main">
            <a:r>
              <a:t>Add an IndexedDB outbox for user-confirmed mutations, scoped to the signed-in user, with explicit pending and failed states. Retry on reconnect and app foreground without relying on background execution. Clear queued and cached sensitive records at logout or account deletion, and prevent another account from replaying them. Preserve the original event timestamp and timezone. Use local calendar keys consistently and test travel, midnight and daylight-saving transitions. Surface stale cached totals rather than presenting them as current.</a:t>
            </a:r>
          </a:p>
          <a:p xmlns:a="http://schemas.openxmlformats.org/drawingml/2006/main">
            <a:r>
              <a:t/>
            </a:r>
          </a:p>
          <a:p xmlns:a="http://schemas.openxmlformats.org/drawingml/2006/main">
            <a:r>
              <a:t>Trust and release quality</a:t>
            </a:r>
          </a:p>
          <a:p xmlns:a="http://schemas.openxmlformats.org/drawingml/2006/main">
            <a:r>
              <a:t>Health boundaries</a:t>
            </a:r>
          </a:p>
          <a:p xmlns:a="http://schemas.openxmlformats.org/drawingml/2006/main">
            <a:r>
              <a:t>The product supports tracking and meal decisions. It does not diagnose symptoms, recommend dosing or tell users to stop medication. NIDDK describes medication as part of a broader treatment plan and advises consultation with healthcare professionals. Have a clinician approve symptom wording and escalation paths before any symptom-related feature launches. Persistent or severe concerns must route to appropriate care information, never reassurance from a model. Personalized targets require explicit user or clinician input and reviewed eligibility logic. [S5]</a:t>
            </a:r>
          </a:p>
          <a:p xmlns:a="http://schemas.openxmlformats.org/drawingml/2006/main">
            <a:r>
              <a:t/>
            </a:r>
          </a:p>
          <a:p xmlns:a="http://schemas.openxmlformats.org/drawingml/2006/main">
            <a:r>
              <a:t>Access and consent</a:t>
            </a:r>
          </a:p>
          <a:p xmlns:a="http://schemas.openxmlformats.org/drawingml/2006/main">
            <a:r>
              <a:t>Enable row-level security on every exposed user table with matching grants and ownership checks for each operation. UPDATE requires both row selection and ownership validation of the resulting record. Verify recipe and meal relationships cannot reference another user's private data. Keep service credentials server-side. Test anonymous access, account A accessing account B, storage reads and export downloads. Supabase policies and storage controls require explicit validation, not reliance on frontend filtering. [S7]</a:t>
            </a:r>
          </a:p>
          <a:p xmlns:a="http://schemas.openxmlformats.org/drawingml/2006/main">
            <a:r>
              <a:t/>
            </a:r>
          </a:p>
          <a:p xmlns:a="http://schemas.openxmlformats.org/drawingml/2006/main">
            <a:r>
              <a:t>Data minimization</a:t>
            </a:r>
          </a:p>
          <a:p xmlns:a="http://schemas.openxmlformats.org/drawingml/2006/main">
            <a:r>
              <a:t>Use separate opt-ins for research, optional medication context and external AI processing. Avoid persistent raw photos by default, strip location metadata before upload and document the processing retention window. Proposed transient media deletion is within 24 hours, with immediate deletion after successful processing when possible. Require vendor data-use and retention review before enablement. Account deletion must cover database records, stored files, queued jobs and local caches, with the backup retention policy clearly stated.</a:t>
            </a:r>
          </a:p>
          <a:p xmlns:a="http://schemas.openxmlformats.org/drawingml/2006/main">
            <a:r>
              <a:t/>
            </a:r>
          </a:p>
          <a:p xmlns:a="http://schemas.openxmlformats.org/drawingml/2006/main">
            <a:r>
              <a:t>Operational quality gates</a:t>
            </a:r>
          </a:p>
          <a:p xmlns:a="http://schemas.openxmlformats.org/drawingml/2006/main">
            <a:r>
              <a:t>Before beta, pass critical flows for signup, meal save and correction, plan swap and offline recovery. Test representative iPhone Safari PWA and Android Chrome behavior, keyboard navigation, screen-reader labels, large text and reduced motion. Confirm partial nutrient totals show coverage. Keep sensitive payloads out of logs. Record latency, failure rate, duplicate saves and provider cost using redacted telemetry.</a:t>
            </a:r>
          </a:p>
          <a:p xmlns:a="http://schemas.openxmlformats.org/drawingml/2006/main">
            <a:r>
              <a:t/>
            </a:r>
          </a:p>
          <a:p xmlns:a="http://schemas.openxmlformats.org/drawingml/2006/main">
            <a:r>
              <a:t>Proposed launch thresholds</a:t>
            </a:r>
          </a:p>
          <a:p xmlns:a="http://schemas.openxmlformats.org/drawingml/2006/main">
            <a:r>
              <a:t>Require no unresolved critical privacy or clinical defects, zero duplicates in retry tests and at least 99% successful valid save attempts during beta. Target p95 manual save under two seconds on the agreed test network, excluding offline queuing. Assisted capture has an eight-second timeout with manual fallback. Disable the affected feature immediately for cross-account exposure or harmful advice. Pause expansion for save success below 99% over a meaningful sample or a material correction burden. These thresholds must be finalized against the baseline.</a:t>
            </a:r>
          </a:p>
          <a:p xmlns:a="http://schemas.openxmlformats.org/drawingml/2006/main">
            <a:r>
              <a:t/>
            </a:r>
          </a:p>
          <a:p xmlns:a="http://schemas.openxmlformats.org/drawingml/2006/main">
            <a:r>
              <a:t>Rollback</a:t>
            </a:r>
          </a:p>
          <a:p xmlns:a="http://schemas.openxmlformats.org/drawingml/2006/main">
            <a:r>
              <a:t>Use server-owned feature flags for appetite recommendations, plan swaps and capture providers. Preserve existing logs when disabling a feature. Stop queued provider jobs safely, retain manual entry and make rollback additive-schema compatible. Reconcile pending writes before deleting local state. A rollback must preserve user-created plan edits and downloaded data.</a:t>
            </a:r>
          </a:p>
          <a:p xmlns:a="http://schemas.openxmlformats.org/drawingml/2006/main">
            <a:r>
              <a:t/>
            </a:r>
          </a:p>
          <a:p xmlns:a="http://schemas.openxmlformats.org/drawingml/2006/main">
            <a:r>
              <a:t>Technical references: https://supabase.com/docs/guides/functions and https://supabase.com/docs/guides/database/postgres/row-level-security. Designs require implementation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Prioritization and delivery capacity</a:t>
            </a:r>
          </a:p>
          <a:p xmlns:a="http://schemas.openxmlformats.org/drawingml/2006/main">
            <a:r>
              <a:t>How we chose the order</a:t>
            </a:r>
          </a:p>
          <a:p xmlns:a="http://schemas.openxmlformats.org/drawingml/2006/main">
            <a:r>
              <a:t>Rank work by observed product gaps, expected repetition of the customer job, learning value and dependency cost. Confidence is highest for placeholder repairs and lowest for personalization and revenue effects. The estimates below are engineering effort ranges before discovery, including ordinary review and feature tests. Shared foundation work appears once. They are not delivery promises.</a:t>
            </a:r>
          </a:p>
          <a:p xmlns:a="http://schemas.openxmlformats.org/drawingml/2006/main">
            <a:r>
              <a:t/>
            </a:r>
          </a:p>
          <a:p xmlns:a="http://schemas.openxmlformats.org/drawingml/2006/main">
            <a:r>
              <a:t>Portfolio</a:t>
            </a:r>
          </a:p>
          <a:p xmlns:a="http://schemas.openxmlformats.org/drawingml/2006/main">
            <a:r>
              <a:t>Foundation and instrumentation: 2 engineer-weeks, required first. F1 My Day and quick repeat: 2–3, highest confidence. F2 Appetite Compass: 3–4, primary differentiation experiment. F3 Flexible Week: 3–4, closes an existing visible gap. F4 assisted capture: 4–6, competitive convenience with vendor and accuracy risk. F5 strength and wins: 2–3, later motivation experiment. F6 weekly story: 2–3, later retention experiment. F7 gentle return: 1–2, later lifecycle experiment. Full portfolio: 19–27 engineer-weeks before contingency, content work and substantial vendor integration.</a:t>
            </a:r>
          </a:p>
          <a:p xmlns:a="http://schemas.openxmlformats.org/drawingml/2006/main">
            <a:r>
              <a:t/>
            </a:r>
          </a:p>
          <a:p xmlns:a="http://schemas.openxmlformats.org/drawingml/2006/main">
            <a:r>
              <a:t>Twelve week commitment</a:t>
            </a:r>
          </a:p>
          <a:p xmlns:a="http://schemas.openxmlformats.org/drawingml/2006/main">
            <a:r>
              <a:t>Two engineers provide 24 nominal engineer-weeks. Reserve six for hardening, integration, research follow-up and unexpected work, leaving 18 for planned scope. Foundation plus F1–F3 consumes 10–13. Allocate the remaining 5–8 to a limited F4 text-capture beta or additional reliability work. Photo rollout and F5–F7 are conditional follow-on work. A narrow weekly summary prototype can support discovery without committing to production F6.</a:t>
            </a:r>
          </a:p>
          <a:p xmlns:a="http://schemas.openxmlformats.org/drawingml/2006/main">
            <a:r>
              <a:t/>
            </a:r>
          </a:p>
          <a:p xmlns:a="http://schemas.openxmlformats.org/drawingml/2006/main">
            <a:r>
              <a:t>Dependencies and ownership</a:t>
            </a:r>
          </a:p>
          <a:p xmlns:a="http://schemas.openxmlformats.org/drawingml/2006/main">
            <a:r>
              <a:t>Product owns target cohorts, problem validation and release decisions. Design owns observed task completion and accessible flows. Engineer A owns core logging, plans and offline mutations. Engineer B owns data changes, analytics and the recommendation service. The dietitian owns recipe eligibility and nutrition copy. A named release owner coordinates QA, support readiness and kill switches. If clinical review is unavailable, launch logging improvements and reviewed generic planning only.</a:t>
            </a:r>
          </a:p>
          <a:p xmlns:a="http://schemas.openxmlformats.org/drawingml/2006/main">
            <a:r>
              <a:t/>
            </a:r>
          </a:p>
          <a:p xmlns:a="http://schemas.openxmlformats.org/drawingml/2006/main">
            <a:r>
              <a:t>What we defer</a:t>
            </a:r>
          </a:p>
          <a:p xmlns:a="http://schemas.openxmlformats.org/drawingml/2006/main">
            <a:r>
              <a:t>Defer social feeds, challenges based on weight loss, autonomous coaching, medication dose recommendations and extensive food database construction. Native HealthKit access requires a native integration path and cannot be assumed from the existing PWA or the heart-rate source enum. Revisit native work only if discovery shows that integration is a major switching reason. [R1, R4, S8]</a:t>
            </a:r>
          </a:p>
          <a:p xmlns:a="http://schemas.openxmlformats.org/drawingml/2006/main">
            <a:r>
              <a:t/>
            </a:r>
          </a:p>
          <a:p xmlns:a="http://schemas.openxmlformats.org/drawingml/2006/main">
            <a:r>
              <a:t>Ranges are planning estimates. Remaining capacity varies inversely with core effort and is not additive at all upper bounds. Planned capacity is 18 engineer-weeks plus 6 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Rollout and measurement plan</a:t>
            </a:r>
          </a:p>
          <a:p xmlns:a="http://schemas.openxmlformats.org/drawingml/2006/main">
            <a:r>
              <a:t>Weeks 1 and 2</a:t>
            </a:r>
          </a:p>
          <a:p xmlns:a="http://schemas.openxmlformats.org/drawingml/2006/main">
            <a:r>
              <a:t>Recruit discovery cohorts, instrument the existing funnel and repair misleading placeholder copy. Establish save reliability and a retention baseline. Deliver goal editing and repeat-meal prototypes. At the week 2 review, select either the appetite hypothesis or a logging-first focus based on observed user jobs. Produce a reviewed recipe inventory and a data contract before development expands.</a:t>
            </a:r>
          </a:p>
          <a:p xmlns:a="http://schemas.openxmlformats.org/drawingml/2006/main">
            <a:r>
              <a:t/>
            </a:r>
          </a:p>
          <a:p xmlns:a="http://schemas.openxmlformats.org/drawingml/2006/main">
            <a:r>
              <a:t>Weeks 3 through 6</a:t>
            </a:r>
          </a:p>
          <a:p xmlns:a="http://schemas.openxmlformats.org/drawingml/2006/main">
            <a:r>
              <a:t>Ship F1 and basic F3 planning to an internal cohort, then a consented beta of approximately 30–50 target users if recruitment allows. Add the reviewed F2 rules and gather explicit usefulness feedback. Run the appetite flow with manual entry intact. At week 6, require usability and reliability gates before extending assisted capture. Small beta counts are for defect discovery and interviews, not proof of retention lift.</a:t>
            </a:r>
          </a:p>
          <a:p xmlns:a="http://schemas.openxmlformats.org/drawingml/2006/main">
            <a:r>
              <a:t/>
            </a:r>
          </a:p>
          <a:p xmlns:a="http://schemas.openxmlformats.org/drawingml/2006/main">
            <a:r>
              <a:t>Weeks 7 through 12</a:t>
            </a:r>
          </a:p>
          <a:p xmlns:a="http://schemas.openxmlformats.org/drawingml/2006/main">
            <a:r>
              <a:t>Randomize eligible accounts into a stable holdout and treatment group, stratified by new versus existing users. Ramp treatment exposure from 5% to 25% to 50% after each reliability review. Keep a 10% holdout when wider availability begins. Do not ramp merely because a date arrives. Start the retention experiment by week 7 so some cohorts mature before the week 12 decision. If enrollment is slow, extend measurement and report uncertainty.</a:t>
            </a:r>
          </a:p>
          <a:p xmlns:a="http://schemas.openxmlformats.org/drawingml/2006/main">
            <a:r>
              <a:t/>
            </a:r>
          </a:p>
          <a:p xmlns:a="http://schemas.openxmlformats.org/drawingml/2006/main">
            <a:r>
              <a:t>Primary outcome</a:t>
            </a:r>
          </a:p>
          <a:p xmlns:a="http://schemas.openxmlformats.org/drawingml/2006/main">
            <a:r>
              <a:t>W4 useful retention is the fraction of randomized eligible accounts completing a confirmed meal log or marking a planned meal used on at least two distinct local days during days 22–28 after assignment. Count everyone assigned in the denominator, even if they never open the new feature. Assign new users at their first authenticated eligible session. Analyze existing users separately. This is a product-use metric, not evidence of a health benefit.</a:t>
            </a:r>
          </a:p>
          <a:p xmlns:a="http://schemas.openxmlformats.org/drawingml/2006/main">
            <a:r>
              <a:t/>
            </a:r>
          </a:p>
          <a:p xmlns:a="http://schemas.openxmlformats.org/drawingml/2006/main">
            <a:r>
              <a:t>Supporting and business metrics</a:t>
            </a:r>
          </a:p>
          <a:p xmlns:a="http://schemas.openxmlformats.org/drawingml/2006/main">
            <a:r>
              <a:t>Track first-day activation, median time to a confirmed meal, correction rate, used planned meals, suggestion usefulness and support complaints. For paid customers, measure renewal and cancellation separately using verified billing events. No billing integration is visible in the inspected code. Avoid declaring business retention improvement from W4 activity alone. The north-star candidate is weekly users completing a useful nutrition action on at least three days.</a:t>
            </a:r>
          </a:p>
          <a:p xmlns:a="http://schemas.openxmlformats.org/drawingml/2006/main">
            <a:r>
              <a:t/>
            </a:r>
          </a:p>
          <a:p xmlns:a="http://schemas.openxmlformats.org/drawingml/2006/main">
            <a:r>
              <a:t>Experiment discipline</a:t>
            </a:r>
          </a:p>
          <a:p xmlns:a="http://schemas.openxmlformats.org/drawingml/2006/main">
            <a:r>
              <a:t>Use one primary hypothesis, a pre-registered analysis window and account-level assignment. A provisional five-point lift from 25% to 30% requires about 1,250 accounts per arm under a two-sided 5% test with 80% power, before attrition adjustments. This is an illustrative calculation, not our baseline. Recalculate with actual rates and traffic. Log exposure separately from assignment and check sample balance. Use interviews for explanation and avoid repeated significance peeking.</a:t>
            </a:r>
          </a:p>
          <a:p xmlns:a="http://schemas.openxmlformats.org/drawingml/2006/main">
            <a:r>
              <a:t/>
            </a:r>
          </a:p>
          <a:p xmlns:a="http://schemas.openxmlformats.org/drawingml/2006/main">
            <a:r>
              <a:t>Proposed ramp: internal, consented beta, then 5%, 25%, 50%, and wider release with a 10% holdout. Dates do not override quality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Rollout and measurement plan</a:t>
            </a:r>
          </a:p>
          <a:p xmlns:a="http://schemas.openxmlformats.org/drawingml/2006/main">
            <a:r>
              <a:t>Weeks 1 and 2</a:t>
            </a:r>
          </a:p>
          <a:p xmlns:a="http://schemas.openxmlformats.org/drawingml/2006/main">
            <a:r>
              <a:t>Recruit discovery cohorts, instrument the existing funnel and repair misleading placeholder copy. Establish save reliability and a retention baseline. Deliver goal editing and repeat-meal prototypes. At the week 2 review, select either the appetite hypothesis or a logging-first focus based on observed user jobs. Produce a reviewed recipe inventory and a data contract before development expands.</a:t>
            </a:r>
          </a:p>
          <a:p xmlns:a="http://schemas.openxmlformats.org/drawingml/2006/main">
            <a:r>
              <a:t/>
            </a:r>
          </a:p>
          <a:p xmlns:a="http://schemas.openxmlformats.org/drawingml/2006/main">
            <a:r>
              <a:t>Weeks 3 through 6</a:t>
            </a:r>
          </a:p>
          <a:p xmlns:a="http://schemas.openxmlformats.org/drawingml/2006/main">
            <a:r>
              <a:t>Ship F1 and basic F3 planning to an internal cohort, then a consented beta of approximately 30–50 target users if recruitment allows. Add the reviewed F2 rules and gather explicit usefulness feedback. Run the appetite flow with manual entry intact. At week 6, require usability and reliability gates before extending assisted capture. Small beta counts are for defect discovery and interviews, not proof of retention lift.</a:t>
            </a:r>
          </a:p>
          <a:p xmlns:a="http://schemas.openxmlformats.org/drawingml/2006/main">
            <a:r>
              <a:t/>
            </a:r>
          </a:p>
          <a:p xmlns:a="http://schemas.openxmlformats.org/drawingml/2006/main">
            <a:r>
              <a:t>Weeks 7 through 12</a:t>
            </a:r>
          </a:p>
          <a:p xmlns:a="http://schemas.openxmlformats.org/drawingml/2006/main">
            <a:r>
              <a:t>Randomize eligible accounts into a stable holdout and treatment group, stratified by new versus existing users. Ramp treatment exposure from 5% to 25% to 50% after each reliability review. Keep a 10% holdout when wider availability begins. Do not ramp merely because a date arrives. Start the retention experiment by week 7 so some cohorts mature before the week 12 decision. If enrollment is slow, extend measurement and report uncertainty.</a:t>
            </a:r>
          </a:p>
          <a:p xmlns:a="http://schemas.openxmlformats.org/drawingml/2006/main">
            <a:r>
              <a:t/>
            </a:r>
          </a:p>
          <a:p xmlns:a="http://schemas.openxmlformats.org/drawingml/2006/main">
            <a:r>
              <a:t>Primary outcome</a:t>
            </a:r>
          </a:p>
          <a:p xmlns:a="http://schemas.openxmlformats.org/drawingml/2006/main">
            <a:r>
              <a:t>W4 useful retention is the fraction of randomized eligible accounts completing a confirmed meal log or marking a planned meal used on at least two distinct local days during days 22–28 after assignment. Count everyone assigned in the denominator, even if they never open the new feature. Assign new users at their first authenticated eligible session. Analyze existing users separately. This is a product-use metric, not evidence of a health benefit.</a:t>
            </a:r>
          </a:p>
          <a:p xmlns:a="http://schemas.openxmlformats.org/drawingml/2006/main">
            <a:r>
              <a:t/>
            </a:r>
          </a:p>
          <a:p xmlns:a="http://schemas.openxmlformats.org/drawingml/2006/main">
            <a:r>
              <a:t>Supporting and business metrics</a:t>
            </a:r>
          </a:p>
          <a:p xmlns:a="http://schemas.openxmlformats.org/drawingml/2006/main">
            <a:r>
              <a:t>Track first-day activation, median time to a confirmed meal, correction rate, used planned meals, suggestion usefulness and support complaints. For paid customers, measure renewal and cancellation separately using verified billing events. No billing integration is visible in the inspected code. Avoid declaring business retention improvement from W4 activity alone. The north-star candidate is weekly users completing a useful nutrition action on at least three days.</a:t>
            </a:r>
          </a:p>
          <a:p xmlns:a="http://schemas.openxmlformats.org/drawingml/2006/main">
            <a:r>
              <a:t/>
            </a:r>
          </a:p>
          <a:p xmlns:a="http://schemas.openxmlformats.org/drawingml/2006/main">
            <a:r>
              <a:t>Experiment discipline</a:t>
            </a:r>
          </a:p>
          <a:p xmlns:a="http://schemas.openxmlformats.org/drawingml/2006/main">
            <a:r>
              <a:t>Use one primary hypothesis, a pre-registered analysis window and account-level assignment. A provisional five-point lift from 25% to 30% requires about 1,250 accounts per arm under a two-sided 5% test with 80% power, before attrition adjustments. This is an illustrative calculation, not our baseline. Recalculate with actual rates and traffic. Log exposure separately from assignment and check sample balance. Use interviews for explanation and avoid repeated significance peeking.</a:t>
            </a:r>
          </a:p>
          <a:p xmlns:a="http://schemas.openxmlformats.org/drawingml/2006/main">
            <a:r>
              <a:t/>
            </a:r>
          </a:p>
          <a:p xmlns:a="http://schemas.openxmlformats.org/drawingml/2006/main">
            <a:r>
              <a:t>Approximate two-proportion normal power calculation: two-sided alpha .05, power .80, 25% vs 30%. Recalculate using actual baseline. Paid retention and renewal require billing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and release quality</a:t>
            </a:r>
          </a:p>
          <a:p xmlns:a="http://schemas.openxmlformats.org/drawingml/2006/main">
            <a:r>
              <a:t>Health boundaries</a:t>
            </a:r>
          </a:p>
          <a:p xmlns:a="http://schemas.openxmlformats.org/drawingml/2006/main">
            <a:r>
              <a:t>The product supports tracking and meal decisions. It does not diagnose symptoms, recommend dosing or tell users to stop medication. NIDDK describes medication as part of a broader treatment plan and advises consultation with healthcare professionals. Have a clinician approve symptom wording and escalation paths before any symptom-related feature launches. Persistent or severe concerns must route to appropriate care information, never reassurance from a model. Personalized targets require explicit user or clinician input and reviewed eligibility logic. [S5]</a:t>
            </a:r>
          </a:p>
          <a:p xmlns:a="http://schemas.openxmlformats.org/drawingml/2006/main">
            <a:r>
              <a:t/>
            </a:r>
          </a:p>
          <a:p xmlns:a="http://schemas.openxmlformats.org/drawingml/2006/main">
            <a:r>
              <a:t>Access and consent</a:t>
            </a:r>
          </a:p>
          <a:p xmlns:a="http://schemas.openxmlformats.org/drawingml/2006/main">
            <a:r>
              <a:t>Enable row-level security on every exposed user table with matching grants and ownership checks for each operation. UPDATE requires both row selection and ownership validation of the resulting record. Verify recipe and meal relationships cannot reference another user's private data. Keep service credentials server-side. Test anonymous access, account A accessing account B, storage reads and export downloads. Supabase policies and storage controls require explicit validation, not reliance on frontend filtering. [S7]</a:t>
            </a:r>
          </a:p>
          <a:p xmlns:a="http://schemas.openxmlformats.org/drawingml/2006/main">
            <a:r>
              <a:t/>
            </a:r>
          </a:p>
          <a:p xmlns:a="http://schemas.openxmlformats.org/drawingml/2006/main">
            <a:r>
              <a:t>Data minimization</a:t>
            </a:r>
          </a:p>
          <a:p xmlns:a="http://schemas.openxmlformats.org/drawingml/2006/main">
            <a:r>
              <a:t>Use separate opt-ins for research, optional medication context and external AI processing. Avoid persistent raw photos by default, strip location metadata before upload and document the processing retention window. Proposed transient media deletion is within 24 hours, with immediate deletion after successful processing when possible. Require vendor data-use and retention review before enablement. Account deletion must cover database records, stored files, queued jobs and local caches, with the backup retention policy clearly stated.</a:t>
            </a:r>
          </a:p>
          <a:p xmlns:a="http://schemas.openxmlformats.org/drawingml/2006/main">
            <a:r>
              <a:t/>
            </a:r>
          </a:p>
          <a:p xmlns:a="http://schemas.openxmlformats.org/drawingml/2006/main">
            <a:r>
              <a:t>Operational quality gates</a:t>
            </a:r>
          </a:p>
          <a:p xmlns:a="http://schemas.openxmlformats.org/drawingml/2006/main">
            <a:r>
              <a:t>Before beta, pass critical flows for signup, meal save and correction, plan swap and offline recovery. Test representative iPhone Safari PWA and Android Chrome behavior, keyboard navigation, screen-reader labels, large text and reduced motion. Confirm partial nutrient totals show coverage. Keep sensitive payloads out of logs. Record latency, failure rate, duplicate saves and provider cost using redacted telemetry.</a:t>
            </a:r>
          </a:p>
          <a:p xmlns:a="http://schemas.openxmlformats.org/drawingml/2006/main">
            <a:r>
              <a:t/>
            </a:r>
          </a:p>
          <a:p xmlns:a="http://schemas.openxmlformats.org/drawingml/2006/main">
            <a:r>
              <a:t>Proposed launch thresholds</a:t>
            </a:r>
          </a:p>
          <a:p xmlns:a="http://schemas.openxmlformats.org/drawingml/2006/main">
            <a:r>
              <a:t>Require no unresolved critical privacy or clinical defects, zero duplicates in retry tests and at least 99% successful valid save attempts during beta. Target p95 manual save under two seconds on the agreed test network, excluding offline queuing. Assisted capture has an eight-second timeout with manual fallback. Disable the affected feature immediately for cross-account exposure or harmful advice. Pause expansion for save success below 99% over a meaningful sample or a material correction burden. These thresholds must be finalized against the baseline.</a:t>
            </a:r>
          </a:p>
          <a:p xmlns:a="http://schemas.openxmlformats.org/drawingml/2006/main">
            <a:r>
              <a:t/>
            </a:r>
          </a:p>
          <a:p xmlns:a="http://schemas.openxmlformats.org/drawingml/2006/main">
            <a:r>
              <a:t>Rollback</a:t>
            </a:r>
          </a:p>
          <a:p xmlns:a="http://schemas.openxmlformats.org/drawingml/2006/main">
            <a:r>
              <a:t>Use server-owned feature flags for appetite recommendations, plan swaps and capture providers. Preserve existing logs when disabling a feature. Stop queued provider jobs safely, retain manual entry and make rollback additive-schema compatible. Reconcile pending writes before deleting local state. A rollback must preserve user-created plan edits and downloaded data.</a:t>
            </a:r>
          </a:p>
          <a:p xmlns:a="http://schemas.openxmlformats.org/drawingml/2006/main">
            <a:r>
              <a:t/>
            </a:r>
          </a:p>
          <a:p xmlns:a="http://schemas.openxmlformats.org/drawingml/2006/main">
            <a:r>
              <a:t>Sources: https://www.niddk.nih.gov/health-information/weight-management/prescription-medications-treat-overweight-obesity and 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strategy and investment decisions</a:t>
            </a:r>
          </a:p>
          <a:p xmlns:a="http://schemas.openxmlformats.org/drawingml/2006/main">
            <a:r>
              <a:t>Packaging hypothesis</a:t>
            </a:r>
          </a:p>
          <a:p xmlns:a="http://schemas.openxmlformats.org/drawingml/2006/main">
            <a:r>
              <a:t>Keep manual logging, editable goals, core history, basic planning and personal data export in the accessible core. Test paid value around convenient capture, richer flexible planning and longer-term insights after users experience a useful result. Do not charge for symptom escalation content or lock people out of their records. Competitor free offerings make an undifferentiated GLP-1 subscription difficult to defend. [S3, S4]</a:t>
            </a:r>
          </a:p>
          <a:p xmlns:a="http://schemas.openxmlformats.org/drawingml/2006/main">
            <a:r>
              <a:t/>
            </a:r>
          </a:p>
          <a:p xmlns:a="http://schemas.openxmlformats.org/drawingml/2006/main">
            <a:r>
              <a:t>Pricing discovery</a:t>
            </a:r>
          </a:p>
          <a:p xmlns:a="http://schemas.openxmlformats.org/drawingml/2006/main">
            <a:r>
              <a:t>No current price, revenue or cancellation cohort was provided. Interview recent switchers about the subscriptions they actually paid for, then test a transparent offer with clear renewal terms. An illustrative $8–12 monthly range is only a research stimulus, not a recommendation to change prices. Use completed purchase and renewal behavior to validate willingness to pay. Avoid discount campaigns before the underlying experience improves.</a:t>
            </a:r>
          </a:p>
          <a:p xmlns:a="http://schemas.openxmlformats.org/drawingml/2006/main">
            <a:r>
              <a:t/>
            </a:r>
          </a:p>
          <a:p xmlns:a="http://schemas.openxmlformats.org/drawingml/2006/main">
            <a:r>
              <a:t>Cost envelope</a:t>
            </a:r>
          </a:p>
          <a:p xmlns:a="http://schemas.openxmlformats.org/drawingml/2006/main">
            <a:r>
              <a:t>Use 24 engineer-weeks as the 12 week capacity envelope, inclusive of the six-week effort reserve. Illustratively, at a loaded $4,000 per engineer-week, engineering costs $96,000. Add $36,000 for combined product and design effort at one full-time equivalent for 12 weeks at $3,000 per week, and $18,000 for clinical content, QA and vendors. The resulting $150,000 envelope is a planning scenario, not a quote or approved budget. Replace every rate with finance inputs.</a:t>
            </a:r>
          </a:p>
          <a:p xmlns:a="http://schemas.openxmlformats.org/drawingml/2006/main">
            <a:r>
              <a:t/>
            </a:r>
          </a:p>
          <a:p xmlns:a="http://schemas.openxmlformats.org/drawingml/2006/main">
            <a:r>
              <a:t>Unit economics guardrail</a:t>
            </a:r>
          </a:p>
          <a:p xmlns:a="http://schemas.openxmlformats.org/drawingml/2006/main">
            <a:r>
              <a:t>Track AI and food-provider spend per active user and per successfully confirmed assisted meal. As a scenario, 60 assisted meals at $0.02 each cost $1.20 per user-month before hosting, support, payment costs and taxes. With $10 of monthly recognized revenue, that leaves $8.80 before those other costs. Prices are illustrative, not vendor quotes. Use quotas, caching and a provider kill switch. Evaluate contribution margin using observed usage distribution, especially heavy users.</a:t>
            </a:r>
          </a:p>
          <a:p xmlns:a="http://schemas.openxmlformats.org/drawingml/2006/main">
            <a:r>
              <a:t/>
            </a:r>
          </a:p>
          <a:p xmlns:a="http://schemas.openxmlformats.org/drawingml/2006/main">
            <a:r>
              <a:t>Decision gates</a:t>
            </a:r>
          </a:p>
          <a:p xmlns:a="http://schemas.openxmlformats.org/drawingml/2006/main">
            <a:r>
              <a:t>Week 2: proceed if the target job and first flows validate, otherwise reprioritize logging. Week 6: expand if reliability and relevance pass, otherwise improve the manual and curated experience. Week 12: scale if mature retention evidence supports a worthwhile effect and the experience remains trustworthy. If the confidence interval includes no improvement, keep exposure limited or extend the experiment. Stop the differentiated bet if adequate data excludes a useful effect, even when engagement with the novelty looks strong.</a:t>
            </a:r>
          </a:p>
          <a:p xmlns:a="http://schemas.openxmlformats.org/drawingml/2006/main">
            <a:r>
              <a:t/>
            </a:r>
          </a:p>
          <a:p xmlns:a="http://schemas.openxmlformats.org/drawingml/2006/main">
            <a:r>
              <a:t>Next decisions for leadership</a:t>
            </a:r>
          </a:p>
          <a:p xmlns:a="http://schemas.openxmlformats.org/drawingml/2006/main">
            <a:r>
              <a:t>Confirm the initial audience, available team and real spending envelope. Appoint an owner for customer research and a clinical content reviewer. Approve only the first two weeks now, with subsequent scope governed by the gates above. This document proposes features and implementation work. It does not change production code or authorize a launch.</a:t>
            </a:r>
          </a:p>
          <a:p xmlns:a="http://schemas.openxmlformats.org/drawingml/2006/main">
            <a:r>
              <a:t/>
            </a:r>
          </a:p>
          <a:p xmlns:a="http://schemas.openxmlformats.org/drawingml/2006/main">
            <a:r>
              <a:t>All costs are hypothetical planning rates. No observed revenue, current pricing, vendor quotes or paid retention data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OzempicAI product strategy and implementation</a:t>
            </a:r>
          </a:p>
          <a:p xmlns:a="http://schemas.openxmlformats.org/drawingml/2006/main">
            <a:r>
              <a:t>Recommendation</a:t>
            </a:r>
          </a:p>
          <a:p xmlns:a="http://schemas.openxmlformats.org/drawingml/2006/main">
            <a:r>
              <a:t>Fund a 12 week product program that makes daily nutrition easier for adults managing changing appetite, including people using prescribed GLP-1 medication. First repair incomplete planning and goal controls. Then test an appetite check-in that helps users choose a realistic next meal, remembers their preferences, and turns those choices into a flexible weekly plan. Keep basic tracking useful for people who do not use medication.</a:t>
            </a:r>
          </a:p>
          <a:p xmlns:a="http://schemas.openxmlformats.org/drawingml/2006/main">
            <a:r>
              <a:t/>
            </a:r>
          </a:p>
          <a:p xmlns:a="http://schemas.openxmlformats.org/drawingml/2006/main">
            <a:r>
              <a:t>Why this direction</a:t>
            </a:r>
          </a:p>
          <a:p xmlns:a="http://schemas.openxmlformats.org/drawingml/2006/main">
            <a:r>
              <a:t>The current repository provides authenticated manual logs and daily totals, but little help deciding what to do next. Lifesum already markets photo, voice, text and barcode logging. MyFitnessPal offers medication and side effect tracking, while Noom offers a GLP-1 companion. We should close essential usability gaps and compete on whether our suggestions fit a person's actual day. This positioning is a hypothesis to validate, not a claim of unique market ownership. [S1–S4]</a:t>
            </a:r>
          </a:p>
          <a:p xmlns:a="http://schemas.openxmlformats.org/drawingml/2006/main">
            <a:r>
              <a:t/>
            </a:r>
          </a:p>
          <a:p xmlns:a="http://schemas.openxmlformats.org/drawingml/2006/main">
            <a:r>
              <a:t>Decision requested</a:t>
            </a:r>
          </a:p>
          <a:p xmlns:a="http://schemas.openxmlformats.org/drawingml/2006/main">
            <a:r>
              <a:t>Approve a two week discovery and foundations phase within a provisional 12 week envelope. Assume two full-time engineers, a half-time product designer, a half-time product manager and fractional dietitian and QA support. Release later funding at weeks 2 and 6 against the evidence gates in this document. These are planning assumptions, not a statement about current staffing.</a:t>
            </a:r>
          </a:p>
          <a:p xmlns:a="http://schemas.openxmlformats.org/drawingml/2006/main">
            <a:r>
              <a:t/>
            </a:r>
          </a:p>
          <a:p xmlns:a="http://schemas.openxmlformats.org/drawingml/2006/main">
            <a:r>
              <a:t>Evidence and limits</a:t>
            </a:r>
          </a:p>
          <a:p xmlns:a="http://schemas.openxmlformats.org/drawingml/2006/main">
            <a:r>
              <a:t>Leadership reports losing customers to competitors. No production analytics, billing data, support archive or customer interviews were supplied. Findings below come from the local source at commit 4c029f7 and official public competitor documentation accessed September 13, 2026. The deployed app and database were not inspected. Customer segments, estimated effort, pricing and outcome targets are proposals rather than observed results.</a:t>
            </a:r>
          </a:p>
          <a:p xmlns:a="http://schemas.openxmlformats.org/drawingml/2006/main">
            <a:r>
              <a:t/>
            </a:r>
          </a:p>
          <a:p xmlns:a="http://schemas.openxmlformats.org/drawingml/2006/main">
            <a:r>
              <a:t>What success means</a:t>
            </a:r>
          </a:p>
          <a:p xmlns:a="http://schemas.openxmlformats.org/drawingml/2006/main">
            <a:r>
              <a:t>Improve the proportion of eligible users who return in week 4 to complete a useful nutrition action. Use a provisional target of five percentage points of absolute improvement versus a randomized holdout, with no material decline in trust, reliability or paid retention. Establish the baseline and feasible sample size before committing to that threshold.</a:t>
            </a:r>
          </a:p>
          <a:p xmlns:a="http://schemas.openxmlformats.org/drawingml/2006/main">
            <a:r>
              <a:t/>
            </a:r>
          </a:p>
          <a:p xmlns:a="http://schemas.openxmlformats.org/drawingml/2006/main">
            <a:r>
              <a:t>Commercial strategy and investment decisions</a:t>
            </a:r>
          </a:p>
          <a:p xmlns:a="http://schemas.openxmlformats.org/drawingml/2006/main">
            <a:r>
              <a:t>Packaging hypothesis</a:t>
            </a:r>
          </a:p>
          <a:p xmlns:a="http://schemas.openxmlformats.org/drawingml/2006/main">
            <a:r>
              <a:t>Keep manual logging, editable goals, core history, basic planning and personal data export in the accessible core. Test paid value around convenient capture, richer flexible planning and longer-term insights after users experience a useful result. Do not charge for symptom escalation content or lock people out of their records. Competitor free offerings make an undifferentiated GLP-1 subscription difficult to defend. [S3, S4]</a:t>
            </a:r>
          </a:p>
          <a:p xmlns:a="http://schemas.openxmlformats.org/drawingml/2006/main">
            <a:r>
              <a:t/>
            </a:r>
          </a:p>
          <a:p xmlns:a="http://schemas.openxmlformats.org/drawingml/2006/main">
            <a:r>
              <a:t>Pricing discovery</a:t>
            </a:r>
          </a:p>
          <a:p xmlns:a="http://schemas.openxmlformats.org/drawingml/2006/main">
            <a:r>
              <a:t>No current price, revenue or cancellation cohort was provided. Interview recent switchers about the subscriptions they actually paid for, then test a transparent offer with clear renewal terms. An illustrative $8–12 monthly range is only a research stimulus, not a recommendation to change prices. Use completed purchase and renewal behavior to validate willingness to pay. Avoid discount campaigns before the underlying experience improves.</a:t>
            </a:r>
          </a:p>
          <a:p xmlns:a="http://schemas.openxmlformats.org/drawingml/2006/main">
            <a:r>
              <a:t/>
            </a:r>
          </a:p>
          <a:p xmlns:a="http://schemas.openxmlformats.org/drawingml/2006/main">
            <a:r>
              <a:t>Cost envelope</a:t>
            </a:r>
          </a:p>
          <a:p xmlns:a="http://schemas.openxmlformats.org/drawingml/2006/main">
            <a:r>
              <a:t>Use 24 engineer-weeks as the 12 week capacity envelope, inclusive of the six-week effort reserve. Illustratively, at a loaded $4,000 per engineer-week, engineering costs $96,000. Add $36,000 for combined product and design effort at one full-time equivalent for 12 weeks at $3,000 per week, and $18,000 for clinical content, QA and vendors. The resulting $150,000 envelope is a planning scenario, not a quote or approved budget. Replace every rate with finance inputs.</a:t>
            </a:r>
          </a:p>
          <a:p xmlns:a="http://schemas.openxmlformats.org/drawingml/2006/main">
            <a:r>
              <a:t/>
            </a:r>
          </a:p>
          <a:p xmlns:a="http://schemas.openxmlformats.org/drawingml/2006/main">
            <a:r>
              <a:t>Unit economics guardrail</a:t>
            </a:r>
          </a:p>
          <a:p xmlns:a="http://schemas.openxmlformats.org/drawingml/2006/main">
            <a:r>
              <a:t>Track AI and food-provider spend per active user and per successfully confirmed assisted meal. As a scenario, 60 assisted meals at $0.02 each cost $1.20 per user-month before hosting, support, payment costs and taxes. With $10 of monthly recognized revenue, that leaves $8.80 before those other costs. Prices are illustrative, not vendor quotes. Use quotas, caching and a provider kill switch. Evaluate contribution margin using observed usage distribution, especially heavy users.</a:t>
            </a:r>
          </a:p>
          <a:p xmlns:a="http://schemas.openxmlformats.org/drawingml/2006/main">
            <a:r>
              <a:t/>
            </a:r>
          </a:p>
          <a:p xmlns:a="http://schemas.openxmlformats.org/drawingml/2006/main">
            <a:r>
              <a:t>Decision gates</a:t>
            </a:r>
          </a:p>
          <a:p xmlns:a="http://schemas.openxmlformats.org/drawingml/2006/main">
            <a:r>
              <a:t>Week 2: proceed if the target job and first flows validate, otherwise reprioritize logging. Week 6: expand if reliability and relevance pass, otherwise improve the manual and curated experience. Week 12: scale if mature retention evidence supports a worthwhile effect and the experience remains trustworthy. If the confidence interval includes no improvement, keep exposure limited or extend the experiment. Stop the differentiated bet if adequate data excludes a useful effect, even when engagement with the novelty looks strong.</a:t>
            </a:r>
          </a:p>
          <a:p xmlns:a="http://schemas.openxmlformats.org/drawingml/2006/main">
            <a:r>
              <a:t/>
            </a:r>
          </a:p>
          <a:p xmlns:a="http://schemas.openxmlformats.org/drawingml/2006/main">
            <a:r>
              <a:t>Next decisions for leadership</a:t>
            </a:r>
          </a:p>
          <a:p xmlns:a="http://schemas.openxmlformats.org/drawingml/2006/main">
            <a:r>
              <a:t>Confirm the initial audience, available team and real spending envelope. Appoint an owner for customer research and a clinical content reviewer. Approve only the first two weeks now, with subsequent scope governed by the gates above. This document proposes features and implementation work. It does not change production code or authorize a launch.</a:t>
            </a:r>
          </a:p>
          <a:p xmlns:a="http://schemas.openxmlformats.org/drawingml/2006/main">
            <a:r>
              <a:t/>
            </a:r>
          </a:p>
          <a:p xmlns:a="http://schemas.openxmlformats.org/drawingml/2006/main">
            <a:r>
              <a:t>Sources and evidence register</a:t>
            </a:r>
          </a:p>
          <a:p xmlns:a="http://schemas.openxmlformats.org/drawingml/2006/main">
            <a:r>
              <a:t>Repository evidence</a:t>
            </a:r>
          </a:p>
          <a:p xmlns:a="http://schemas.openxmlformats.org/drawingml/2006/main">
            <a:r>
              <a:t>Local checkout reviewed September 13, 2026 at commit 4c029f7. Paths are relative to /Users/mihirpatel/Downloads/OzempicAI. R1: README.md and package.json, platform and dependencies. R2: src/features/today/TodayScreen.tsx, current totals and goals. R3: src/features/calories/CalorieScreen.tsx and src/hooks/useCalorieLogs.ts, manual capture and mutations. R4: src/types/db.ts and src/features/exercise/ExerciseScreen.tsx, data model and strength fields. R5: src/features/plans/PlansScreen.tsx and src/features/profile/ProfileScreen.tsx, placeholders. R6: vite.config.ts and src/lib/date.ts, caching and local time handling. R7: supabase/migrations/00005_rls_policies_and_signup_trigger.sql, access policies. Planning notes in web-migration-plan.md informed context but were not treated as proof of implemented features.</a:t>
            </a:r>
          </a:p>
          <a:p xmlns:a="http://schemas.openxmlformats.org/drawingml/2006/main">
            <a:r>
              <a:t/>
            </a:r>
          </a:p>
          <a:p xmlns:a="http://schemas.openxmlformats.org/drawingml/2006/main">
            <a:r>
              <a:t>S1  Lifesum current product</a:t>
            </a:r>
          </a:p>
          <a:p xmlns:a="http://schemas.openxmlformats.org/drawingml/2006/main">
            <a:r>
              <a:t>https://lifesum.com/</a:t>
            </a:r>
          </a:p>
          <a:p xmlns:a="http://schemas.openxmlformats.org/drawingml/2006/main">
            <a:r>
              <a:t>Official overview of photo, voice, text, barcode and quick tracking. Accessed September 13, 2026.</a:t>
            </a:r>
          </a:p>
          <a:p xmlns:a="http://schemas.openxmlformats.org/drawingml/2006/main">
            <a:r>
              <a:t/>
            </a:r>
          </a:p>
          <a:p xmlns:a="http://schemas.openxmlformats.org/drawingml/2006/main">
            <a:r>
              <a:t>S2  Lifesum features</a:t>
            </a:r>
          </a:p>
          <a:p xmlns:a="http://schemas.openxmlformats.org/drawingml/2006/main">
            <a:r>
              <a:t>https://lifesum.com/features/</a:t>
            </a:r>
          </a:p>
          <a:p xmlns:a="http://schemas.openxmlformats.org/drawingml/2006/main">
            <a:r>
              <a:t>Official overview of plans, recipes and food feedback. Accessed September 13, 2026.</a:t>
            </a:r>
          </a:p>
          <a:p xmlns:a="http://schemas.openxmlformats.org/drawingml/2006/main">
            <a:r>
              <a:t/>
            </a:r>
          </a:p>
          <a:p xmlns:a="http://schemas.openxmlformats.org/drawingml/2006/main">
            <a:r>
              <a:t>S3  MyFitnessPal GLP 1 support</a:t>
            </a:r>
          </a:p>
          <a:p xmlns:a="http://schemas.openxmlformats.org/drawingml/2006/main">
            <a:r>
              <a:t>https://news.myfitnesspal.com/myfitnesspal-launches-glp-1-support-to-help-users-stay-consistent-and-build-habits-alongside-medication/</a:t>
            </a:r>
          </a:p>
          <a:p xmlns:a="http://schemas.openxmlformats.org/drawingml/2006/main">
            <a:r>
              <a:t>Official announcement of logging, reminders and side effect monitoring in the US. Accessed September 13, 2026.</a:t>
            </a:r>
          </a:p>
          <a:p xmlns:a="http://schemas.openxmlformats.org/drawingml/2006/main">
            <a:r>
              <a:t/>
            </a:r>
          </a:p>
          <a:p xmlns:a="http://schemas.openxmlformats.org/drawingml/2006/main">
            <a:r>
              <a:t>S4  Noom companion</a:t>
            </a:r>
          </a:p>
          <a:p xmlns:a="http://schemas.openxmlformats.org/drawingml/2006/main">
            <a:r>
              <a:t>https://www.noom.com/health/glp1companion/</a:t>
            </a:r>
          </a:p>
          <a:p xmlns:a="http://schemas.openxmlformats.org/drawingml/2006/main">
            <a:r>
              <a:t>https://www.noom.com/in-the-news/noom-launches-free-version-of-its-powerful-glp-1-companion/</a:t>
            </a:r>
          </a:p>
          <a:p xmlns:a="http://schemas.openxmlformats.org/drawingml/2006/main">
            <a:r>
              <a:t>Official product and free-version announcement. Accessed September 13, 2026.</a:t>
            </a:r>
          </a:p>
          <a:p xmlns:a="http://schemas.openxmlformats.org/drawingml/2006/main">
            <a:r>
              <a:t/>
            </a:r>
          </a:p>
          <a:p xmlns:a="http://schemas.openxmlformats.org/drawingml/2006/main">
            <a:r>
              <a:t>S5  NIDDK treatment context</a:t>
            </a:r>
          </a:p>
          <a:p xmlns:a="http://schemas.openxmlformats.org/drawingml/2006/main">
            <a:r>
              <a:t>https://www.niddk.nih.gov/health-information/weight-management/prescription-medications-treat-overweight-obesity</a:t>
            </a:r>
          </a:p>
          <a:p xmlns:a="http://schemas.openxmlformats.org/drawingml/2006/main">
            <a:r>
              <a:t>Health context for treatment boundaries, not a validated recommendation algorithm. Accessed September 13, 2026.</a:t>
            </a:r>
          </a:p>
          <a:p xmlns:a="http://schemas.openxmlformats.org/drawingml/2006/main">
            <a:r>
              <a:t/>
            </a:r>
          </a:p>
          <a:p xmlns:a="http://schemas.openxmlformats.org/drawingml/2006/main">
            <a:r>
              <a:t>S6 to S8  Technical references</a:t>
            </a:r>
          </a:p>
          <a:p xmlns:a="http://schemas.openxmlformats.org/drawingml/2006/main">
            <a:r>
              <a:t>S6: https://supabase.com/docs/guides/functions</a:t>
            </a:r>
          </a:p>
          <a:p xmlns:a="http://schemas.openxmlformats.org/drawingml/2006/main">
            <a:r>
              <a:t>S7: https://supabase.com/docs/guides/database/postgres/row-level-security</a:t>
            </a:r>
          </a:p>
          <a:p xmlns:a="http://schemas.openxmlformats.org/drawingml/2006/main">
            <a:r>
              <a:t>S8: https://developer.apple.com/documentation/healthkit</a:t>
            </a:r>
          </a:p>
          <a:p xmlns:a="http://schemas.openxmlformats.org/drawingml/2006/main">
            <a:r>
              <a:t>Official architecture and access-control references. Accessed September 13, 2026. Proposed APIs and schemas in this document remain designs and require implementation validation.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2c6d7ab2f24e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0f8b2295dd4a85" /><Relationship Type="http://schemas.openxmlformats.org/officeDocument/2006/relationships/slideLayout" Target="/ppt/slideLayouts/slideLayout1.xml" Id="Rdc5da43da3c14e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5da43da3c14e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fbec3805944b0e" /><Relationship Type="http://schemas.openxmlformats.org/officeDocument/2006/relationships/notesSlide" Target="/ppt/notesSlides/notesSlide1.xml" Id="Rbf426a5945b545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8f7c180a424d73" /><Relationship Type="http://schemas.openxmlformats.org/officeDocument/2006/relationships/notesSlide" Target="/ppt/notesSlides/notesSlide2.xml" Id="Rde7345f7b5f946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047a983f654462" /><Relationship Type="http://schemas.openxmlformats.org/officeDocument/2006/relationships/notesSlide" Target="/ppt/notesSlides/notesSlide3.xml" Id="R0ccbb5c7fc2547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068df5177247f2" /><Relationship Type="http://schemas.openxmlformats.org/officeDocument/2006/relationships/notesSlide" Target="/ppt/notesSlides/notesSlide4.xml" Id="R41f8c31fdf0447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0d464e6d0f42ba" /><Relationship Type="http://schemas.openxmlformats.org/officeDocument/2006/relationships/notesSlide" Target="/ppt/notesSlides/notesSlide5.xml" Id="R0dc4d5bb2fb740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1754d9b14e4242" /><Relationship Type="http://schemas.openxmlformats.org/officeDocument/2006/relationships/notesSlide" Target="/ppt/notesSlides/notesSlide6.xml" Id="R46641c8947b142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dba25707f84358" /><Relationship Type="http://schemas.openxmlformats.org/officeDocument/2006/relationships/notesSlide" Target="/ppt/notesSlides/notesSlide7.xml" Id="R17c0cf19b9f441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1775f1a92941a1" /><Relationship Type="http://schemas.openxmlformats.org/officeDocument/2006/relationships/notesSlide" Target="/ppt/notesSlides/notesSlide8.xml" Id="R0ef65ee40cf748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96f3041dfe4aa0" /><Relationship Type="http://schemas.openxmlformats.org/officeDocument/2006/relationships/notesSlide" Target="/ppt/notesSlides/notesSlide9.xml" Id="Ra0b7172631a741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7dd785d83e43bd" /><Relationship Type="http://schemas.openxmlformats.org/officeDocument/2006/relationships/notesSlide" Target="/ppt/notesSlides/notesSlide10.xml" Id="Rfa26330987164f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e977d5eccef4fa7" /><Relationship Type="http://schemas.openxmlformats.org/officeDocument/2006/relationships/notesSlide" Target="/ppt/notesSlides/notesSlide11.xml" Id="Rb77ea22f97b445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82df7bf002c4e48" /><Relationship Type="http://schemas.openxmlformats.org/officeDocument/2006/relationships/notesSlide" Target="/ppt/notesSlides/notesSlide12.xml" Id="Rcf7351904d864a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93c67296de148ca" /><Relationship Type="http://schemas.openxmlformats.org/officeDocument/2006/relationships/notesSlide" Target="/ppt/notesSlides/notesSlide13.xml" Id="Rb571690d439e4f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5128952ad58428d" /><Relationship Type="http://schemas.openxmlformats.org/officeDocument/2006/relationships/notesSlide" Target="/ppt/notesSlides/notesSlide14.xml" Id="Rae735927f1d8417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b6fc8777bd74e4f" /><Relationship Type="http://schemas.openxmlformats.org/officeDocument/2006/relationships/notesSlide" Target="/ppt/notesSlides/notesSlide15.xml" Id="R27c5c991f71448e8" /></Relationships>
</file>

<file path=ppt/slides/slide1.xml><?xml version="1.0" encoding="utf-8"?>
<p:sld xmlns:p="http://schemas.openxmlformats.org/presentationml/2006/main">
  <p:cSld>
    <p:bg>
      <p:bgPr>
        <a:solidFill xmlns:a="http://schemas.openxmlformats.org/drawingml/2006/main">
          <a:srgbClr val="2A1E1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9C4846-3783-48C8-8576-F4B7B910F797}"/>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E8A66B"/>
                </a:solidFill>
                <a:latin typeface="Helvetica Neue"/>
                <a:ea typeface="Helvetica Neue"/>
                <a:cs typeface="Helvetica Neue"/>
              </a:defRPr>
            </a:pPr>
            <a:r>
              <a:rPr sz="1125" b="1">
                <a:solidFill>
                  <a:srgbClr val="E8A66B"/>
                </a:solidFill>
                <a:latin typeface="Helvetica Neue"/>
                <a:ea typeface="Helvetica Neue"/>
                <a:cs typeface="Helvetica Neue"/>
              </a:rPr>
              <a:t>LEADERSHIP PROPOSAL</a:t>
            </a:r>
          </a:p>
        </p:txBody>
      </p:sp>
      <p:sp>
        <p:nvSpPr>
          <p:cNvPr id="2" name="">
            <a:extLst xmlns:a="http://schemas.openxmlformats.org/drawingml/2006/main">
              <a:ext uri="{FF2B5EF4-FFF2-40B4-BE49-F238E27FC236}">
                <a16:creationId xmlns:a16="http://schemas.microsoft.com/office/drawing/2014/main" id="{0DC00238-6D9B-4C16-9B77-DACFC20940B7}"/>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BF7F0"/>
                </a:solidFill>
                <a:latin typeface="Helvetica Neue"/>
                <a:ea typeface="Helvetica Neue"/>
                <a:cs typeface="Helvetica Neue"/>
              </a:defRPr>
            </a:pPr>
            <a:r>
              <a:rPr sz="3225" b="1">
                <a:solidFill>
                  <a:srgbClr val="FBF7F0"/>
                </a:solidFill>
                <a:latin typeface="Helvetica Neue"/>
                <a:ea typeface="Helvetica Neue"/>
                <a:cs typeface="Helvetica Neue"/>
              </a:rPr>
              <a:t>OzempicAI</a:t>
            </a:r>
          </a:p>
          <a:p xmlns:a="http://schemas.openxmlformats.org/drawingml/2006/main">
            <a:pPr>
              <a:defRPr sz="3225" b="1">
                <a:solidFill>
                  <a:srgbClr val="FBF7F0"/>
                </a:solidFill>
                <a:latin typeface="Helvetica Neue"/>
                <a:ea typeface="Helvetica Neue"/>
                <a:cs typeface="Helvetica Neue"/>
              </a:defRPr>
            </a:pPr>
            <a:r>
              <a:rPr sz="3225" b="1">
                <a:solidFill>
                  <a:srgbClr val="FBF7F0"/>
                </a:solidFill>
                <a:latin typeface="Helvetica Neue"/>
                <a:ea typeface="Helvetica Neue"/>
                <a:cs typeface="Helvetica Neue"/>
              </a:rPr>
              <a:t>Product strategy</a:t>
            </a:r>
          </a:p>
        </p:txBody>
      </p:sp>
      <p:sp>
        <p:nvSpPr>
          <p:cNvPr id="3" name="">
            <a:extLst xmlns:a="http://schemas.openxmlformats.org/drawingml/2006/main">
              <a:ext uri="{FF2B5EF4-FFF2-40B4-BE49-F238E27FC236}">
                <a16:creationId xmlns:a16="http://schemas.microsoft.com/office/drawing/2014/main" id="{84426ACD-8187-4840-854D-E0B9E2B7DB90}"/>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BBDAE"/>
                </a:solidFill>
                <a:latin typeface="Helvetica Neue"/>
                <a:ea typeface="Helvetica Neue"/>
                <a:cs typeface="Helvetica Neue"/>
              </a:defRPr>
            </a:pPr>
            <a:r>
              <a:rPr sz="975" b="0">
                <a:solidFill>
                  <a:srgbClr val="CBBDA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376C6D88-A022-4928-8F28-16CC5349CA9F}"/>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BBDAE"/>
                </a:solidFill>
                <a:latin typeface="Helvetica Neue"/>
                <a:ea typeface="Helvetica Neue"/>
                <a:cs typeface="Helvetica Neue"/>
              </a:defRPr>
            </a:pPr>
            <a:r>
              <a:rPr sz="975" b="0">
                <a:solidFill>
                  <a:srgbClr val="CBBDAE"/>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CA2690C4-53E2-4E45-9F36-6FF994F0DE44}"/>
              </a:ext>
            </a:extLst>
          </p:cNvPr>
          <p:cNvSpPr>
            <a:spLocks xmlns:a="http://schemas.openxmlformats.org/drawingml/2006/main" noGrp="1"/>
          </p:cNvSpPr>
          <p:nvPr/>
        </p:nvSpPr>
        <p:spPr>
          <a:xfrm xmlns:a="http://schemas.openxmlformats.org/drawingml/2006/main">
            <a:off x="609600" y="3476625"/>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BF7F0"/>
                </a:solidFill>
                <a:latin typeface="Helvetica Neue"/>
                <a:ea typeface="Helvetica Neue"/>
                <a:cs typeface="Helvetica Neue"/>
              </a:defRPr>
            </a:pPr>
            <a:r>
              <a:rPr sz="2850" b="0">
                <a:solidFill>
                  <a:srgbClr val="FBF7F0"/>
                </a:solidFill>
                <a:latin typeface="Helvetica Neue"/>
                <a:ea typeface="Helvetica Neue"/>
                <a:cs typeface="Helvetica Neue"/>
              </a:rPr>
              <a:t>Useful meal decisions for changing appetite</a:t>
            </a:r>
          </a:p>
        </p:txBody>
      </p:sp>
      <p:sp>
        <p:nvSpPr>
          <p:cNvPr id="6" name="">
            <a:extLst xmlns:a="http://schemas.openxmlformats.org/drawingml/2006/main">
              <a:ext uri="{FF2B5EF4-FFF2-40B4-BE49-F238E27FC236}">
                <a16:creationId xmlns:a16="http://schemas.microsoft.com/office/drawing/2014/main" id="{06E07C90-BC3F-4BA8-A396-2CB77696FC96}"/>
              </a:ext>
            </a:extLst>
          </p:cNvPr>
          <p:cNvSpPr>
            <a:spLocks xmlns:a="http://schemas.openxmlformats.org/drawingml/2006/main" noGrp="1"/>
          </p:cNvSpPr>
          <p:nvPr/>
        </p:nvSpPr>
        <p:spPr>
          <a:xfrm xmlns:a="http://schemas.openxmlformats.org/drawingml/2006/main">
            <a:off x="609600" y="517207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BBDAE"/>
                </a:solidFill>
                <a:latin typeface="Helvetica Neue"/>
                <a:ea typeface="Helvetica Neue"/>
                <a:cs typeface="Helvetica Neue"/>
              </a:defRPr>
            </a:pPr>
            <a:r>
              <a:rPr sz="1875" b="0">
                <a:solidFill>
                  <a:srgbClr val="CBBDAE"/>
                </a:solidFill>
                <a:latin typeface="Helvetica Neue"/>
                <a:ea typeface="Helvetica Neue"/>
                <a:cs typeface="Helvetica Neue"/>
              </a:rPr>
              <a:t>Feature portfolio and 12 week rollout proposal</a:t>
            </a:r>
          </a:p>
        </p:txBody>
      </p:sp>
    </p:spTree>
    <p:extLst>
      <p:ext uri="{BB962C8B-B14F-4D97-AF65-F5344CB8AC3E}">
        <p14:creationId xmlns:p14="http://schemas.microsoft.com/office/powerpoint/2010/main" val="1121375324"/>
      </p:ext>
    </p:extLst>
  </p:cSld>
</p:sld>
</file>

<file path=ppt/slides/slide2.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DC09E0-5A04-4F9F-B2DB-3814DBD532FB}"/>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8720A035-F24D-4006-8CD0-FC2E109420A0}"/>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The proposed investment</a:t>
            </a:r>
          </a:p>
        </p:txBody>
      </p:sp>
      <p:sp>
        <p:nvSpPr>
          <p:cNvPr id="3" name="">
            <a:extLst xmlns:a="http://schemas.openxmlformats.org/drawingml/2006/main">
              <a:ext uri="{FF2B5EF4-FFF2-40B4-BE49-F238E27FC236}">
                <a16:creationId xmlns:a16="http://schemas.microsoft.com/office/drawing/2014/main" id="{3E1A1509-61A8-468A-A4B7-250DCD0A4429}"/>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3C1AB055-82E2-4ABA-924C-10CDE23E337A}"/>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7219FBFB-B001-46E7-BFAD-3F726A365C36}"/>
              </a:ext>
            </a:extLst>
          </p:cNvPr>
          <p:cNvSpPr>
            <a:spLocks xmlns:a="http://schemas.openxmlformats.org/drawingml/2006/main" noGrp="1"/>
          </p:cNvSpPr>
          <p:nvPr/>
        </p:nvSpPr>
        <p:spPr>
          <a:xfrm xmlns:a="http://schemas.openxmlformats.org/drawingml/2006/main">
            <a:off x="609600" y="20478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A8522F"/>
                </a:solidFill>
                <a:latin typeface="Helvetica Neue"/>
                <a:ea typeface="Helvetica Neue"/>
                <a:cs typeface="Helvetica Neue"/>
              </a:defRPr>
            </a:pPr>
            <a:r>
              <a:rPr sz="5250" b="1">
                <a:solidFill>
                  <a:srgbClr val="A8522F"/>
                </a:solidFill>
                <a:latin typeface="Helvetica Neue"/>
                <a:ea typeface="Helvetica Neue"/>
                <a:cs typeface="Helvetica Neue"/>
              </a:rPr>
              <a:t>12 weeks</a:t>
            </a:r>
          </a:p>
        </p:txBody>
      </p:sp>
      <p:sp>
        <p:nvSpPr>
          <p:cNvPr id="6" name="">
            <a:extLst xmlns:a="http://schemas.openxmlformats.org/drawingml/2006/main">
              <a:ext uri="{FF2B5EF4-FFF2-40B4-BE49-F238E27FC236}">
                <a16:creationId xmlns:a16="http://schemas.microsoft.com/office/drawing/2014/main" id="{1229B84E-0845-41B3-B262-AD5056A57E92}"/>
              </a:ext>
            </a:extLst>
          </p:cNvPr>
          <p:cNvSpPr>
            <a:spLocks xmlns:a="http://schemas.openxmlformats.org/drawingml/2006/main" noGrp="1"/>
          </p:cNvSpPr>
          <p:nvPr/>
        </p:nvSpPr>
        <p:spPr>
          <a:xfrm xmlns:a="http://schemas.openxmlformats.org/drawingml/2006/main">
            <a:off x="609600" y="3095625"/>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A1E16"/>
                </a:solidFill>
                <a:latin typeface="Helvetica Neue"/>
                <a:ea typeface="Helvetica Neue"/>
                <a:cs typeface="Helvetica Neue"/>
              </a:defRPr>
            </a:pPr>
            <a:r>
              <a:rPr sz="1950" b="0">
                <a:solidFill>
                  <a:srgbClr val="2A1E16"/>
                </a:solidFill>
                <a:latin typeface="Helvetica Neue"/>
                <a:ea typeface="Helvetica Neue"/>
                <a:cs typeface="Helvetica Neue"/>
              </a:rPr>
              <a:t>Two engineers, with product, design,</a:t>
            </a:r>
          </a:p>
          <a:p xmlns:a="http://schemas.openxmlformats.org/drawingml/2006/main">
            <a:pPr>
              <a:defRPr sz="1950" b="0">
                <a:solidFill>
                  <a:srgbClr val="2A1E16"/>
                </a:solidFill>
                <a:latin typeface="Helvetica Neue"/>
                <a:ea typeface="Helvetica Neue"/>
                <a:cs typeface="Helvetica Neue"/>
              </a:defRPr>
            </a:pPr>
            <a:r>
              <a:rPr sz="1950" b="0">
                <a:solidFill>
                  <a:srgbClr val="2A1E16"/>
                </a:solidFill>
                <a:latin typeface="Helvetica Neue"/>
                <a:ea typeface="Helvetica Neue"/>
                <a:cs typeface="Helvetica Neue"/>
              </a:rPr>
              <a:t>clinical content and QA support</a:t>
            </a:r>
          </a:p>
        </p:txBody>
      </p:sp>
      <p:sp>
        <p:nvSpPr>
          <p:cNvPr id="7" name="">
            <a:extLst xmlns:a="http://schemas.openxmlformats.org/drawingml/2006/main">
              <a:ext uri="{FF2B5EF4-FFF2-40B4-BE49-F238E27FC236}">
                <a16:creationId xmlns:a16="http://schemas.microsoft.com/office/drawing/2014/main" id="{1D8CC93D-7F8E-4001-9ADA-B8914AEC6C8F}"/>
              </a:ext>
            </a:extLst>
          </p:cNvPr>
          <p:cNvSpPr>
            <a:spLocks xmlns:a="http://schemas.openxmlformats.org/drawingml/2006/main" noGrp="1"/>
          </p:cNvSpPr>
          <p:nvPr/>
        </p:nvSpPr>
        <p:spPr>
          <a:xfrm xmlns:a="http://schemas.openxmlformats.org/drawingml/2006/main">
            <a:off x="6191250" y="20764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8522F"/>
                </a:solidFill>
                <a:latin typeface="Helvetica Neue"/>
                <a:ea typeface="Helvetica Neue"/>
                <a:cs typeface="Helvetica Neue"/>
              </a:defRPr>
            </a:pPr>
            <a:r>
              <a:rPr sz="2100" b="1">
                <a:solidFill>
                  <a:srgbClr val="A8522F"/>
                </a:solidFill>
                <a:latin typeface="Helvetica Neue"/>
                <a:ea typeface="Helvetica Neue"/>
                <a:cs typeface="Helvetica Neue"/>
              </a:rPr>
              <a:t>First release</a:t>
            </a:r>
          </a:p>
        </p:txBody>
      </p:sp>
      <p:sp>
        <p:nvSpPr>
          <p:cNvPr id="8" name="">
            <a:extLst xmlns:a="http://schemas.openxmlformats.org/drawingml/2006/main">
              <a:ext uri="{FF2B5EF4-FFF2-40B4-BE49-F238E27FC236}">
                <a16:creationId xmlns:a16="http://schemas.microsoft.com/office/drawing/2014/main" id="{79AE9162-BCE1-4513-9D30-295C5FF183BA}"/>
              </a:ext>
            </a:extLst>
          </p:cNvPr>
          <p:cNvSpPr>
            <a:spLocks xmlns:a="http://schemas.openxmlformats.org/drawingml/2006/main" noGrp="1"/>
          </p:cNvSpPr>
          <p:nvPr/>
        </p:nvSpPr>
        <p:spPr>
          <a:xfrm xmlns:a="http://schemas.openxmlformats.org/drawingml/2006/main">
            <a:off x="6191250" y="2733675"/>
            <a:ext cx="52863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A1E16"/>
                </a:solidFill>
                <a:latin typeface="Helvetica Neue"/>
                <a:ea typeface="Helvetica Neue"/>
                <a:cs typeface="Helvetica Neue"/>
              </a:defRPr>
            </a:pPr>
            <a:r>
              <a:rPr sz="2175" b="0">
                <a:solidFill>
                  <a:srgbClr val="2A1E16"/>
                </a:solidFill>
                <a:latin typeface="Helvetica Neue"/>
                <a:ea typeface="Helvetica Neue"/>
                <a:cs typeface="Helvetica Neue"/>
              </a:rPr>
              <a:t>Editable goals and fast repeat meals</a:t>
            </a:r>
          </a:p>
          <a:p xmlns:a="http://schemas.openxmlformats.org/drawingml/2006/main">
            <a:pPr>
              <a:defRPr sz="2175" b="0">
                <a:solidFill>
                  <a:srgbClr val="2A1E16"/>
                </a:solidFill>
                <a:latin typeface="Helvetica Neue"/>
                <a:ea typeface="Helvetica Neue"/>
                <a:cs typeface="Helvetica Neue"/>
              </a:defRPr>
            </a:pPr>
            <a:r>
              <a:rPr sz="2175" b="0">
                <a:solidFill>
                  <a:srgbClr val="2A1E16"/>
                </a:solidFill>
                <a:latin typeface="Helvetica Neue"/>
                <a:ea typeface="Helvetica Neue"/>
                <a:cs typeface="Helvetica Neue"/>
              </a:rPr>
              <a:t>Flexible plans users can change</a:t>
            </a:r>
          </a:p>
          <a:p xmlns:a="http://schemas.openxmlformats.org/drawingml/2006/main">
            <a:pPr>
              <a:defRPr sz="2175" b="0">
                <a:solidFill>
                  <a:srgbClr val="2A1E16"/>
                </a:solidFill>
                <a:latin typeface="Helvetica Neue"/>
                <a:ea typeface="Helvetica Neue"/>
                <a:cs typeface="Helvetica Neue"/>
              </a:defRPr>
            </a:pPr>
            <a:r>
              <a:rPr sz="2175" b="0">
                <a:solidFill>
                  <a:srgbClr val="2A1E16"/>
                </a:solidFill>
                <a:latin typeface="Helvetica Neue"/>
                <a:ea typeface="Helvetica Neue"/>
                <a:cs typeface="Helvetica Neue"/>
              </a:rPr>
              <a:t>An Appetite Compass beta</a:t>
            </a:r>
          </a:p>
        </p:txBody>
      </p:sp>
      <p:sp>
        <p:nvSpPr>
          <p:cNvPr id="9" name="">
            <a:extLst xmlns:a="http://schemas.openxmlformats.org/drawingml/2006/main">
              <a:ext uri="{FF2B5EF4-FFF2-40B4-BE49-F238E27FC236}">
                <a16:creationId xmlns:a16="http://schemas.microsoft.com/office/drawing/2014/main" id="{2D01AB03-C9AF-4E33-BD50-F576B39675C8}"/>
              </a:ext>
            </a:extLst>
          </p:cNvPr>
          <p:cNvSpPr>
            <a:spLocks xmlns:a="http://schemas.openxmlformats.org/drawingml/2006/main" noGrp="1"/>
          </p:cNvSpPr>
          <p:nvPr/>
        </p:nvSpPr>
        <p:spPr>
          <a:xfrm xmlns:a="http://schemas.openxmlformats.org/drawingml/2006/main">
            <a:off x="609600" y="54292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B5A4E"/>
                </a:solidFill>
                <a:latin typeface="Helvetica Neue"/>
                <a:ea typeface="Helvetica Neue"/>
                <a:cs typeface="Helvetica Neue"/>
              </a:defRPr>
            </a:pPr>
            <a:r>
              <a:rPr sz="2025" b="0">
                <a:solidFill>
                  <a:srgbClr val="6B5A4E"/>
                </a:solidFill>
                <a:latin typeface="Helvetica Neue"/>
                <a:ea typeface="Helvetica Neue"/>
                <a:cs typeface="Helvetica Neue"/>
              </a:rPr>
              <a:t>Fund the first two weeks now. Review scope at weeks 2 and 6.</a:t>
            </a:r>
          </a:p>
        </p:txBody>
      </p:sp>
    </p:spTree>
    <p:extLst>
      <p:ext uri="{BB962C8B-B14F-4D97-AF65-F5344CB8AC3E}">
        <p14:creationId xmlns:p14="http://schemas.microsoft.com/office/powerpoint/2010/main" val="384891841"/>
      </p:ext>
    </p:extLst>
  </p:cSld>
</p:sld>
</file>

<file path=ppt/slides/slide3.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249647-1242-4DD2-9034-3A88BE2B1F50}"/>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ABD2F25C-7C00-41B5-9C88-6E81EDC2827B}"/>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The app records data but offers little guidance</a:t>
            </a:r>
          </a:p>
        </p:txBody>
      </p:sp>
      <p:sp>
        <p:nvSpPr>
          <p:cNvPr id="3" name="">
            <a:extLst xmlns:a="http://schemas.openxmlformats.org/drawingml/2006/main">
              <a:ext uri="{FF2B5EF4-FFF2-40B4-BE49-F238E27FC236}">
                <a16:creationId xmlns:a16="http://schemas.microsoft.com/office/drawing/2014/main" id="{38C03F64-3DD5-490B-9889-C72683E42536}"/>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A3325C5B-E509-4450-9625-14CA434B705B}"/>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A97F703-49A9-4DCB-A2AE-3CD865ABBA9B}"/>
              </a:ext>
            </a:extLst>
          </p:cNvPr>
          <p:cNvSpPr>
            <a:spLocks xmlns:a="http://schemas.openxmlformats.org/drawingml/2006/main" noGrp="1"/>
          </p:cNvSpPr>
          <p:nvPr/>
        </p:nvSpPr>
        <p:spPr>
          <a:xfrm xmlns:a="http://schemas.openxmlformats.org/drawingml/2006/main">
            <a:off x="609600" y="20002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Working foundation</a:t>
            </a:r>
          </a:p>
        </p:txBody>
      </p:sp>
      <p:sp>
        <p:nvSpPr>
          <p:cNvPr id="6" name="">
            <a:extLst xmlns:a="http://schemas.openxmlformats.org/drawingml/2006/main">
              <a:ext uri="{FF2B5EF4-FFF2-40B4-BE49-F238E27FC236}">
                <a16:creationId xmlns:a16="http://schemas.microsoft.com/office/drawing/2014/main" id="{6EF5345F-0292-47DE-B15A-B027BF165E9F}"/>
              </a:ext>
            </a:extLst>
          </p:cNvPr>
          <p:cNvSpPr>
            <a:spLocks xmlns:a="http://schemas.openxmlformats.org/drawingml/2006/main" noGrp="1"/>
          </p:cNvSpPr>
          <p:nvPr/>
        </p:nvSpPr>
        <p:spPr>
          <a:xfrm xmlns:a="http://schemas.openxmlformats.org/drawingml/2006/main">
            <a:off x="4191000" y="200025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Authentication, manual health logs and daily totals in an installable React PWA.</a:t>
            </a:r>
          </a:p>
        </p:txBody>
      </p:sp>
      <p:sp>
        <p:nvSpPr>
          <p:cNvPr id="7" name="">
            <a:extLst xmlns:a="http://schemas.openxmlformats.org/drawingml/2006/main">
              <a:ext uri="{FF2B5EF4-FFF2-40B4-BE49-F238E27FC236}">
                <a16:creationId xmlns:a16="http://schemas.microsoft.com/office/drawing/2014/main" id="{FE3C2BAD-B28D-4109-A066-D0F14E383B85}"/>
              </a:ext>
            </a:extLst>
          </p:cNvPr>
          <p:cNvSpPr>
            <a:spLocks xmlns:a="http://schemas.openxmlformats.org/drawingml/2006/main" noGrp="1"/>
          </p:cNvSpPr>
          <p:nvPr/>
        </p:nvSpPr>
        <p:spPr>
          <a:xfrm xmlns:a="http://schemas.openxmlformats.org/drawingml/2006/main">
            <a:off x="609600" y="324802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Visible gaps</a:t>
            </a:r>
          </a:p>
        </p:txBody>
      </p:sp>
      <p:sp>
        <p:nvSpPr>
          <p:cNvPr id="8" name="">
            <a:extLst xmlns:a="http://schemas.openxmlformats.org/drawingml/2006/main">
              <a:ext uri="{FF2B5EF4-FFF2-40B4-BE49-F238E27FC236}">
                <a16:creationId xmlns:a16="http://schemas.microsoft.com/office/drawing/2014/main" id="{63CC6B91-FD84-4238-8A61-AE44F17438A2}"/>
              </a:ext>
            </a:extLst>
          </p:cNvPr>
          <p:cNvSpPr>
            <a:spLocks xmlns:a="http://schemas.openxmlformats.org/drawingml/2006/main" noGrp="1"/>
          </p:cNvSpPr>
          <p:nvPr/>
        </p:nvSpPr>
        <p:spPr>
          <a:xfrm xmlns:a="http://schemas.openxmlformats.org/drawingml/2006/main">
            <a:off x="4191000" y="3248025"/>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Plans is a placeholder. Profile defers goal editing. Food logs lack protein and serving detail.</a:t>
            </a:r>
          </a:p>
        </p:txBody>
      </p:sp>
      <p:sp>
        <p:nvSpPr>
          <p:cNvPr id="9" name="">
            <a:extLst xmlns:a="http://schemas.openxmlformats.org/drawingml/2006/main">
              <a:ext uri="{FF2B5EF4-FFF2-40B4-BE49-F238E27FC236}">
                <a16:creationId xmlns:a16="http://schemas.microsoft.com/office/drawing/2014/main" id="{D9A704A3-F187-4139-B113-3A01A3AB70F3}"/>
              </a:ext>
            </a:extLst>
          </p:cNvPr>
          <p:cNvSpPr>
            <a:spLocks xmlns:a="http://schemas.openxmlformats.org/drawingml/2006/main" noGrp="1"/>
          </p:cNvSpPr>
          <p:nvPr/>
        </p:nvSpPr>
        <p:spPr>
          <a:xfrm xmlns:a="http://schemas.openxmlformats.org/drawingml/2006/main">
            <a:off x="609600" y="449580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Evidence limit</a:t>
            </a:r>
          </a:p>
        </p:txBody>
      </p:sp>
      <p:sp>
        <p:nvSpPr>
          <p:cNvPr id="10" name="">
            <a:extLst xmlns:a="http://schemas.openxmlformats.org/drawingml/2006/main">
              <a:ext uri="{FF2B5EF4-FFF2-40B4-BE49-F238E27FC236}">
                <a16:creationId xmlns:a16="http://schemas.microsoft.com/office/drawing/2014/main" id="{FACDB40F-8273-46FD-8C53-DBB8A0B83848}"/>
              </a:ext>
            </a:extLst>
          </p:cNvPr>
          <p:cNvSpPr>
            <a:spLocks xmlns:a="http://schemas.openxmlformats.org/drawingml/2006/main" noGrp="1"/>
          </p:cNvSpPr>
          <p:nvPr/>
        </p:nvSpPr>
        <p:spPr>
          <a:xfrm xmlns:a="http://schemas.openxmlformats.org/drawingml/2006/main">
            <a:off x="4191000" y="449580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Leadership reports customer loss. The checkout contains no analytics to establish why.</a:t>
            </a:r>
          </a:p>
        </p:txBody>
      </p:sp>
    </p:spTree>
    <p:extLst>
      <p:ext uri="{BB962C8B-B14F-4D97-AF65-F5344CB8AC3E}">
        <p14:creationId xmlns:p14="http://schemas.microsoft.com/office/powerpoint/2010/main" val="1572846866"/>
      </p:ext>
    </p:extLst>
  </p:cSld>
</p:sld>
</file>

<file path=ppt/slides/slide4.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7E736F-960D-4873-8CF1-0ED73D2BFEAD}"/>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7BF60E8F-36E5-4858-A908-DA28BBE47D97}"/>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Convenience and GLP-1 support are established</a:t>
            </a:r>
          </a:p>
        </p:txBody>
      </p:sp>
      <p:sp>
        <p:nvSpPr>
          <p:cNvPr id="3" name="">
            <a:extLst xmlns:a="http://schemas.openxmlformats.org/drawingml/2006/main">
              <a:ext uri="{FF2B5EF4-FFF2-40B4-BE49-F238E27FC236}">
                <a16:creationId xmlns:a16="http://schemas.microsoft.com/office/drawing/2014/main" id="{2597AED4-348D-49D7-A89B-DB7E2ADF9368}"/>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FC2CD9AA-A4F5-4AD1-9D02-E3144F41FC20}"/>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609600" y="2000250"/>
          <a:ext xmlns:a="http://schemas.openxmlformats.org/drawingml/2006/main" cx="10972800" cy="3381375"/>
        </p:xfrm>
        <a:graphic xmlns:a="http://schemas.openxmlformats.org/drawingml/2006/main">
          <a:graphicData uri="http://schemas.openxmlformats.org/drawingml/2006/table">
            <a:tbl>
              <a:tblPr/>
              <a:tblGrid>
                <a:gridCol w="2428875"/>
                <a:gridCol w="4524375"/>
                <a:gridCol w="4019550"/>
              </a:tblGrid>
              <a:tr h="845344">
                <a:tc>
                  <a:txBody>
                    <a:bodyPr/>
                    <a:lstStyle/>
                    <a:p>
                      <a:r>
                        <a:rPr sz="1725" b="1">
                          <a:solidFill>
                            <a:srgbClr val="FBF7F0"/>
                          </a:solidFill>
                          <a:latin typeface="Helvetica Neue"/>
                          <a:ea typeface="Helvetica Neue"/>
                          <a:cs typeface="Helvetica Neue"/>
                        </a:rPr>
                        <a:t>Product</a:t>
                      </a:r>
                    </a:p>
                  </a:txBody>
                  <a:tcPr marL="91440" marR="91440" marT="45720" marB="45720">
                    <a:solidFill>
                      <a:srgbClr val="2A1E16"/>
                    </a:solidFill>
                  </a:tcPr>
                </a:tc>
                <a:tc>
                  <a:txBody>
                    <a:bodyPr/>
                    <a:lstStyle/>
                    <a:p>
                      <a:r>
                        <a:rPr sz="1725" b="1">
                          <a:solidFill>
                            <a:srgbClr val="FBF7F0"/>
                          </a:solidFill>
                          <a:latin typeface="Helvetica Neue"/>
                          <a:ea typeface="Helvetica Neue"/>
                          <a:cs typeface="Helvetica Neue"/>
                        </a:rPr>
                        <a:t>Verified public offer</a:t>
                      </a:r>
                    </a:p>
                  </a:txBody>
                  <a:tcPr marL="91440" marR="91440" marT="45720" marB="45720">
                    <a:solidFill>
                      <a:srgbClr val="2A1E16"/>
                    </a:solidFill>
                  </a:tcPr>
                </a:tc>
                <a:tc>
                  <a:txBody>
                    <a:bodyPr/>
                    <a:lstStyle/>
                    <a:p>
                      <a:r>
                        <a:rPr sz="1725" b="1">
                          <a:solidFill>
                            <a:srgbClr val="FBF7F0"/>
                          </a:solidFill>
                          <a:latin typeface="Helvetica Neue"/>
                          <a:ea typeface="Helvetica Neue"/>
                          <a:cs typeface="Helvetica Neue"/>
                        </a:rPr>
                        <a:t>Implication</a:t>
                      </a:r>
                    </a:p>
                  </a:txBody>
                  <a:tcPr marL="91440" marR="91440" marT="45720" marB="45720">
                    <a:solidFill>
                      <a:srgbClr val="2A1E16"/>
                    </a:solidFill>
                  </a:tcPr>
                </a:tc>
              </a:tr>
              <a:tr h="845344">
                <a:tc>
                  <a:txBody>
                    <a:bodyPr/>
                    <a:lstStyle/>
                    <a:p>
                      <a:r>
                        <a:rPr sz="1650" b="0">
                          <a:solidFill>
                            <a:srgbClr val="2A1E16"/>
                          </a:solidFill>
                          <a:latin typeface="Helvetica Neue"/>
                          <a:ea typeface="Helvetica Neue"/>
                          <a:cs typeface="Helvetica Neue"/>
                        </a:rPr>
                        <a:t>Lifesum</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Multiple logging modes,</a:t>
                      </a:r>
                    </a:p>
                    <a:p>
                      <a:r>
                        <a:rPr sz="1650" b="0">
                          <a:solidFill>
                            <a:srgbClr val="2A1E16"/>
                          </a:solidFill>
                          <a:latin typeface="Helvetica Neue"/>
                          <a:ea typeface="Helvetica Neue"/>
                          <a:cs typeface="Helvetica Neue"/>
                        </a:rPr>
                        <a:t>plans and recipes</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Reduce entry effort</a:t>
                      </a:r>
                    </a:p>
                    <a:p>
                      <a:r>
                        <a:rPr sz="1650" b="0">
                          <a:solidFill>
                            <a:srgbClr val="2A1E16"/>
                          </a:solidFill>
                          <a:latin typeface="Helvetica Neue"/>
                          <a:ea typeface="Helvetica Neue"/>
                          <a:cs typeface="Helvetica Neue"/>
                        </a:rPr>
                        <a:t>and make plans useful</a:t>
                      </a:r>
                    </a:p>
                  </a:txBody>
                  <a:tcPr marL="91440" marR="91440" marT="45720" marB="45720">
                    <a:solidFill>
                      <a:srgbClr val="FBF7F0"/>
                    </a:solidFill>
                  </a:tcPr>
                </a:tc>
              </a:tr>
              <a:tr h="845344">
                <a:tc>
                  <a:txBody>
                    <a:bodyPr/>
                    <a:lstStyle/>
                    <a:p>
                      <a:r>
                        <a:rPr sz="1650" b="0">
                          <a:solidFill>
                            <a:srgbClr val="2A1E16"/>
                          </a:solidFill>
                          <a:latin typeface="Helvetica Neue"/>
                          <a:ea typeface="Helvetica Neue"/>
                          <a:cs typeface="Helvetica Neue"/>
                        </a:rPr>
                        <a:t>MyFitnessPal</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Medication logs, reminders</a:t>
                      </a:r>
                    </a:p>
                    <a:p>
                      <a:r>
                        <a:rPr sz="1650" b="0">
                          <a:solidFill>
                            <a:srgbClr val="2A1E16"/>
                          </a:solidFill>
                          <a:latin typeface="Helvetica Neue"/>
                          <a:ea typeface="Helvetica Neue"/>
                          <a:cs typeface="Helvetica Neue"/>
                        </a:rPr>
                        <a:t>and side effect monitoring</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A medication diary</a:t>
                      </a:r>
                    </a:p>
                    <a:p>
                      <a:r>
                        <a:rPr sz="1650" b="0">
                          <a:solidFill>
                            <a:srgbClr val="2A1E16"/>
                          </a:solidFill>
                          <a:latin typeface="Helvetica Neue"/>
                          <a:ea typeface="Helvetica Neue"/>
                          <a:cs typeface="Helvetica Neue"/>
                        </a:rPr>
                        <a:t>is insufficient</a:t>
                      </a:r>
                    </a:p>
                  </a:txBody>
                  <a:tcPr marL="91440" marR="91440" marT="45720" marB="45720">
                    <a:solidFill>
                      <a:srgbClr val="F5EFE6"/>
                    </a:solidFill>
                  </a:tcPr>
                </a:tc>
              </a:tr>
              <a:tr h="845344">
                <a:tc>
                  <a:txBody>
                    <a:bodyPr/>
                    <a:lstStyle/>
                    <a:p>
                      <a:r>
                        <a:rPr sz="1650" b="0">
                          <a:solidFill>
                            <a:srgbClr val="2A1E16"/>
                          </a:solidFill>
                          <a:latin typeface="Helvetica Neue"/>
                          <a:ea typeface="Helvetica Neue"/>
                          <a:cs typeface="Helvetica Neue"/>
                        </a:rPr>
                        <a:t>Noom</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GLP-1 companion with</a:t>
                      </a:r>
                    </a:p>
                    <a:p>
                      <a:r>
                        <a:rPr sz="1650" b="0">
                          <a:solidFill>
                            <a:srgbClr val="2A1E16"/>
                          </a:solidFill>
                          <a:latin typeface="Helvetica Neue"/>
                          <a:ea typeface="Helvetica Neue"/>
                          <a:cs typeface="Helvetica Neue"/>
                        </a:rPr>
                        <a:t>protein and muscle support</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Win on daily relevance</a:t>
                      </a:r>
                    </a:p>
                    <a:p>
                      <a:r>
                        <a:rPr sz="1650" b="0">
                          <a:solidFill>
                            <a:srgbClr val="2A1E16"/>
                          </a:solidFill>
                          <a:latin typeface="Helvetica Neue"/>
                          <a:ea typeface="Helvetica Neue"/>
                          <a:cs typeface="Helvetica Neue"/>
                        </a:rPr>
                        <a:t>and ease of use</a:t>
                      </a:r>
                    </a:p>
                  </a:txBody>
                  <a:tcPr marL="91440" marR="91440" marT="45720" marB="45720">
                    <a:solidFill>
                      <a:srgbClr val="FBF7F0"/>
                    </a:solidFill>
                  </a:tcPr>
                </a:tc>
              </a:tr>
            </a:tbl>
          </a:graphicData>
        </a:graphic>
      </p:graphicFrame>
      <p:sp>
        <p:nvSpPr>
          <p:cNvPr id="6" name="">
            <a:extLst xmlns:a="http://schemas.openxmlformats.org/drawingml/2006/main">
              <a:ext uri="{FF2B5EF4-FFF2-40B4-BE49-F238E27FC236}">
                <a16:creationId xmlns:a16="http://schemas.microsoft.com/office/drawing/2014/main" id="{B95087E1-B023-475D-AEB3-5A7EBDCDBAC3}"/>
              </a:ext>
            </a:extLst>
          </p:cNvPr>
          <p:cNvSpPr>
            <a:spLocks xmlns:a="http://schemas.openxmlformats.org/drawingml/2006/main" noGrp="1"/>
          </p:cNvSpPr>
          <p:nvPr/>
        </p:nvSpPr>
        <p:spPr>
          <a:xfrm xmlns:a="http://schemas.openxmlformats.org/drawingml/2006/main">
            <a:off x="609600" y="561022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8522F"/>
                </a:solidFill>
                <a:latin typeface="Helvetica Neue"/>
                <a:ea typeface="Helvetica Neue"/>
                <a:cs typeface="Helvetica Neue"/>
              </a:defRPr>
            </a:pPr>
            <a:r>
              <a:rPr sz="1875" b="0">
                <a:solidFill>
                  <a:srgbClr val="A8522F"/>
                </a:solidFill>
                <a:latin typeface="Helvetica Neue"/>
                <a:ea typeface="Helvetica Neue"/>
                <a:cs typeface="Helvetica Neue"/>
              </a:rPr>
              <a:t>Our opportunity is a hypothesis: meal suggestions that fit today and improve with feedback.</a:t>
            </a:r>
          </a:p>
        </p:txBody>
      </p:sp>
    </p:spTree>
    <p:extLst>
      <p:ext uri="{BB962C8B-B14F-4D97-AF65-F5344CB8AC3E}">
        <p14:creationId xmlns:p14="http://schemas.microsoft.com/office/powerpoint/2010/main" val="324098480"/>
      </p:ext>
    </p:extLst>
  </p:cSld>
</p:sld>
</file>

<file path=ppt/slides/slide5.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7A27B3-0F90-46BE-9BCF-0A65EF7B6598}"/>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FF0CE757-D859-4D8D-AC2E-42686F4A1A3F}"/>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The customer job to validate</a:t>
            </a:r>
          </a:p>
        </p:txBody>
      </p:sp>
      <p:sp>
        <p:nvSpPr>
          <p:cNvPr id="3" name="">
            <a:extLst xmlns:a="http://schemas.openxmlformats.org/drawingml/2006/main">
              <a:ext uri="{FF2B5EF4-FFF2-40B4-BE49-F238E27FC236}">
                <a16:creationId xmlns:a16="http://schemas.microsoft.com/office/drawing/2014/main" id="{AA6FAE96-70B1-48D6-888D-F5DCEFE58E8E}"/>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0123687A-5ECF-4DF5-B62D-60629D64B314}"/>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1CB06C2E-D2B0-46AF-8C29-7CDD611EC084}"/>
              </a:ext>
            </a:extLst>
          </p:cNvPr>
          <p:cNvSpPr>
            <a:spLocks xmlns:a="http://schemas.openxmlformats.org/drawingml/2006/main" noGrp="1"/>
          </p:cNvSpPr>
          <p:nvPr/>
        </p:nvSpPr>
        <p:spPr>
          <a:xfrm xmlns:a="http://schemas.openxmlformats.org/drawingml/2006/main">
            <a:off x="609600" y="200025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A1E16"/>
                </a:solidFill>
                <a:latin typeface="Helvetica Neue"/>
                <a:ea typeface="Helvetica Neue"/>
                <a:cs typeface="Helvetica Neue"/>
              </a:defRPr>
            </a:pPr>
            <a:r>
              <a:rPr sz="3300" b="1">
                <a:solidFill>
                  <a:srgbClr val="2A1E16"/>
                </a:solidFill>
                <a:latin typeface="Helvetica Neue"/>
                <a:ea typeface="Helvetica Neue"/>
                <a:cs typeface="Helvetica Neue"/>
              </a:rPr>
              <a:t>“My usual meal does not appeal today.</a:t>
            </a:r>
          </a:p>
          <a:p xmlns:a="http://schemas.openxmlformats.org/drawingml/2006/main">
            <a:pPr>
              <a:defRPr sz="3300" b="1">
                <a:solidFill>
                  <a:srgbClr val="2A1E16"/>
                </a:solidFill>
                <a:latin typeface="Helvetica Neue"/>
                <a:ea typeface="Helvetica Neue"/>
                <a:cs typeface="Helvetica Neue"/>
              </a:defRPr>
            </a:pPr>
            <a:r>
              <a:rPr sz="3300" b="1">
                <a:solidFill>
                  <a:srgbClr val="2A1E16"/>
                </a:solidFill>
                <a:latin typeface="Helvetica Neue"/>
                <a:ea typeface="Helvetica Neue"/>
                <a:cs typeface="Helvetica Neue"/>
              </a:rPr>
              <a:t>Help me choose something manageable.”</a:t>
            </a:r>
          </a:p>
        </p:txBody>
      </p:sp>
      <p:sp>
        <p:nvSpPr>
          <p:cNvPr id="6" name="">
            <a:extLst xmlns:a="http://schemas.openxmlformats.org/drawingml/2006/main">
              <a:ext uri="{FF2B5EF4-FFF2-40B4-BE49-F238E27FC236}">
                <a16:creationId xmlns:a16="http://schemas.microsoft.com/office/drawing/2014/main" id="{6DF22B61-5C8A-4159-9DDF-EBA21EC19DC8}"/>
              </a:ext>
            </a:extLst>
          </p:cNvPr>
          <p:cNvSpPr>
            <a:spLocks xmlns:a="http://schemas.openxmlformats.org/drawingml/2006/main" noGrp="1"/>
          </p:cNvSpPr>
          <p:nvPr/>
        </p:nvSpPr>
        <p:spPr>
          <a:xfrm xmlns:a="http://schemas.openxmlformats.org/drawingml/2006/main">
            <a:off x="609600" y="42386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8522F"/>
                </a:solidFill>
                <a:latin typeface="Helvetica Neue"/>
                <a:ea typeface="Helvetica Neue"/>
                <a:cs typeface="Helvetica Neue"/>
              </a:defRPr>
            </a:pPr>
            <a:r>
              <a:rPr sz="2025" b="1">
                <a:solidFill>
                  <a:srgbClr val="A8522F"/>
                </a:solidFill>
                <a:latin typeface="Helvetica Neue"/>
                <a:ea typeface="Helvetica Neue"/>
                <a:cs typeface="Helvetica Neue"/>
              </a:rPr>
              <a:t>Initial audience</a:t>
            </a:r>
          </a:p>
        </p:txBody>
      </p:sp>
      <p:sp>
        <p:nvSpPr>
          <p:cNvPr id="7" name="">
            <a:extLst xmlns:a="http://schemas.openxmlformats.org/drawingml/2006/main">
              <a:ext uri="{FF2B5EF4-FFF2-40B4-BE49-F238E27FC236}">
                <a16:creationId xmlns:a16="http://schemas.microsoft.com/office/drawing/2014/main" id="{B44E475F-474B-4BAC-ABF1-000A8B7C5036}"/>
              </a:ext>
            </a:extLst>
          </p:cNvPr>
          <p:cNvSpPr>
            <a:spLocks xmlns:a="http://schemas.openxmlformats.org/drawingml/2006/main" noGrp="1"/>
          </p:cNvSpPr>
          <p:nvPr/>
        </p:nvSpPr>
        <p:spPr>
          <a:xfrm xmlns:a="http://schemas.openxmlformats.org/drawingml/2006/main">
            <a:off x="4191000" y="4181475"/>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Adults managing changing appetite, including prescribed GLP-1 users. Keep the core useful without medication.</a:t>
            </a:r>
          </a:p>
        </p:txBody>
      </p:sp>
      <p:sp>
        <p:nvSpPr>
          <p:cNvPr id="8" name="">
            <a:extLst xmlns:a="http://schemas.openxmlformats.org/drawingml/2006/main">
              <a:ext uri="{FF2B5EF4-FFF2-40B4-BE49-F238E27FC236}">
                <a16:creationId xmlns:a16="http://schemas.microsoft.com/office/drawing/2014/main" id="{99085D7E-0F50-44E0-B936-ACCD9FD37153}"/>
              </a:ext>
            </a:extLst>
          </p:cNvPr>
          <p:cNvSpPr>
            <a:spLocks xmlns:a="http://schemas.openxmlformats.org/drawingml/2006/main" noGrp="1"/>
          </p:cNvSpPr>
          <p:nvPr/>
        </p:nvSpPr>
        <p:spPr>
          <a:xfrm xmlns:a="http://schemas.openxmlformats.org/drawingml/2006/main">
            <a:off x="609600" y="55435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B5A4E"/>
                </a:solidFill>
                <a:latin typeface="Helvetica Neue"/>
                <a:ea typeface="Helvetica Neue"/>
                <a:cs typeface="Helvetica Neue"/>
              </a:defRPr>
            </a:pPr>
            <a:r>
              <a:rPr sz="1875" b="0">
                <a:solidFill>
                  <a:srgbClr val="6B5A4E"/>
                </a:solidFill>
                <a:latin typeface="Helvetica Neue"/>
                <a:ea typeface="Helvetica Neue"/>
                <a:cs typeface="Helvetica Neue"/>
              </a:rPr>
              <a:t>Discovery: 18 interviews and 8 observed task sessions before committing to the proposition.</a:t>
            </a:r>
          </a:p>
        </p:txBody>
      </p:sp>
    </p:spTree>
    <p:extLst>
      <p:ext uri="{BB962C8B-B14F-4D97-AF65-F5344CB8AC3E}">
        <p14:creationId xmlns:p14="http://schemas.microsoft.com/office/powerpoint/2010/main" val="263601794"/>
      </p:ext>
    </p:extLst>
  </p:cSld>
</p:sld>
</file>

<file path=ppt/slides/slide6.xml><?xml version="1.0" encoding="utf-8"?>
<p:sld xmlns:p="http://schemas.openxmlformats.org/presentationml/2006/main">
  <p:cSld>
    <p:bg>
      <p:bgPr>
        <a:solidFill xmlns:a="http://schemas.openxmlformats.org/drawingml/2006/main">
          <a:srgbClr val="2A1E1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C14274E-4B0A-46CB-B828-E8179E9662D0}"/>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E8A66B"/>
                </a:solidFill>
                <a:latin typeface="Helvetica Neue"/>
                <a:ea typeface="Helvetica Neue"/>
                <a:cs typeface="Helvetica Neue"/>
              </a:defRPr>
            </a:pPr>
            <a:r>
              <a:rPr sz="1125" b="1">
                <a:solidFill>
                  <a:srgbClr val="E8A66B"/>
                </a:solidFill>
                <a:latin typeface="Helvetica Neue"/>
                <a:ea typeface="Helvetica Neue"/>
                <a:cs typeface="Helvetica Neue"/>
              </a:rPr>
              <a:t>SIGNATURE EXPERIENCE</a:t>
            </a:r>
          </a:p>
        </p:txBody>
      </p:sp>
      <p:sp>
        <p:nvSpPr>
          <p:cNvPr id="2" name="">
            <a:extLst xmlns:a="http://schemas.openxmlformats.org/drawingml/2006/main">
              <a:ext uri="{FF2B5EF4-FFF2-40B4-BE49-F238E27FC236}">
                <a16:creationId xmlns:a16="http://schemas.microsoft.com/office/drawing/2014/main" id="{866FC1AE-6F5F-4E34-9511-229D8FAA2304}"/>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BF7F0"/>
                </a:solidFill>
                <a:latin typeface="Helvetica Neue"/>
                <a:ea typeface="Helvetica Neue"/>
                <a:cs typeface="Helvetica Neue"/>
              </a:defRPr>
            </a:pPr>
            <a:r>
              <a:rPr sz="3225" b="1">
                <a:solidFill>
                  <a:srgbClr val="FBF7F0"/>
                </a:solidFill>
                <a:latin typeface="Helvetica Neue"/>
                <a:ea typeface="Helvetica Neue"/>
                <a:cs typeface="Helvetica Neue"/>
              </a:rPr>
              <a:t>Appetite Compass</a:t>
            </a:r>
          </a:p>
        </p:txBody>
      </p:sp>
      <p:sp>
        <p:nvSpPr>
          <p:cNvPr id="3" name="">
            <a:extLst xmlns:a="http://schemas.openxmlformats.org/drawingml/2006/main">
              <a:ext uri="{FF2B5EF4-FFF2-40B4-BE49-F238E27FC236}">
                <a16:creationId xmlns:a16="http://schemas.microsoft.com/office/drawing/2014/main" id="{03A62748-C483-430C-8CB2-D328F8658F42}"/>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BBDAE"/>
                </a:solidFill>
                <a:latin typeface="Helvetica Neue"/>
                <a:ea typeface="Helvetica Neue"/>
                <a:cs typeface="Helvetica Neue"/>
              </a:defRPr>
            </a:pPr>
            <a:r>
              <a:rPr sz="975" b="0">
                <a:solidFill>
                  <a:srgbClr val="CBBDA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E3CAB496-95B2-4E1A-B5F8-EBB8FE19A704}"/>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BBDAE"/>
                </a:solidFill>
                <a:latin typeface="Helvetica Neue"/>
                <a:ea typeface="Helvetica Neue"/>
                <a:cs typeface="Helvetica Neue"/>
              </a:defRPr>
            </a:pPr>
            <a:r>
              <a:rPr sz="975" b="0">
                <a:solidFill>
                  <a:srgbClr val="CBBDAE"/>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D7DCB5A0-0183-4EC3-A63D-FCA9B6668D0D}"/>
              </a:ext>
            </a:extLst>
          </p:cNvPr>
          <p:cNvSpPr>
            <a:spLocks xmlns:a="http://schemas.openxmlformats.org/drawingml/2006/main" noGrp="1"/>
          </p:cNvSpPr>
          <p:nvPr/>
        </p:nvSpPr>
        <p:spPr>
          <a:xfrm xmlns:a="http://schemas.openxmlformats.org/drawingml/2006/main">
            <a:off x="609600" y="2047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BF7F0"/>
                </a:solidFill>
                <a:latin typeface="Helvetica Neue"/>
                <a:ea typeface="Helvetica Neue"/>
                <a:cs typeface="Helvetica Neue"/>
              </a:defRPr>
            </a:pPr>
            <a:r>
              <a:rPr sz="3150" b="1">
                <a:solidFill>
                  <a:srgbClr val="FBF7F0"/>
                </a:solidFill>
                <a:latin typeface="Helvetica Neue"/>
                <a:ea typeface="Helvetica Neue"/>
                <a:cs typeface="Helvetica Neue"/>
              </a:rPr>
              <a:t>A meal suggestion that fits the day</a:t>
            </a:r>
          </a:p>
        </p:txBody>
      </p:sp>
      <p:sp>
        <p:nvSpPr>
          <p:cNvPr id="6" name="">
            <a:extLst xmlns:a="http://schemas.openxmlformats.org/drawingml/2006/main">
              <a:ext uri="{FF2B5EF4-FFF2-40B4-BE49-F238E27FC236}">
                <a16:creationId xmlns:a16="http://schemas.microsoft.com/office/drawing/2014/main" id="{1C8095E5-D97F-4565-A684-ACA20A2AF919}"/>
              </a:ext>
            </a:extLst>
          </p:cNvPr>
          <p:cNvSpPr>
            <a:spLocks xmlns:a="http://schemas.openxmlformats.org/drawingml/2006/main" noGrp="1"/>
          </p:cNvSpPr>
          <p:nvPr/>
        </p:nvSpPr>
        <p:spPr>
          <a:xfrm xmlns:a="http://schemas.openxmlformats.org/drawingml/2006/main">
            <a:off x="609600" y="3333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E8A66B"/>
                </a:solidFill>
                <a:latin typeface="Helvetica Neue"/>
                <a:ea typeface="Helvetica Neue"/>
                <a:cs typeface="Helvetica Neue"/>
              </a:defRPr>
            </a:pPr>
            <a:r>
              <a:rPr sz="2925" b="1">
                <a:solidFill>
                  <a:srgbClr val="E8A6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751E593F-B206-4AF0-A840-597BFCADFA4D}"/>
              </a:ext>
            </a:extLst>
          </p:cNvPr>
          <p:cNvSpPr>
            <a:spLocks xmlns:a="http://schemas.openxmlformats.org/drawingml/2006/main" noGrp="1"/>
          </p:cNvSpPr>
          <p:nvPr/>
        </p:nvSpPr>
        <p:spPr>
          <a:xfrm xmlns:a="http://schemas.openxmlformats.org/drawingml/2006/main">
            <a:off x="609600" y="40481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BF7F0"/>
                </a:solidFill>
                <a:latin typeface="Helvetica Neue"/>
                <a:ea typeface="Helvetica Neue"/>
                <a:cs typeface="Helvetica Neue"/>
              </a:defRPr>
            </a:pPr>
            <a:r>
              <a:rPr sz="2250" b="1">
                <a:solidFill>
                  <a:srgbClr val="FBF7F0"/>
                </a:solidFill>
                <a:latin typeface="Helvetica Neue"/>
                <a:ea typeface="Helvetica Neue"/>
                <a:cs typeface="Helvetica Neue"/>
              </a:rPr>
              <a:t>Check in</a:t>
            </a:r>
          </a:p>
        </p:txBody>
      </p:sp>
      <p:sp>
        <p:nvSpPr>
          <p:cNvPr id="8" name="">
            <a:extLst xmlns:a="http://schemas.openxmlformats.org/drawingml/2006/main">
              <a:ext uri="{FF2B5EF4-FFF2-40B4-BE49-F238E27FC236}">
                <a16:creationId xmlns:a16="http://schemas.microsoft.com/office/drawing/2014/main" id="{F3C111EE-AF0C-43B4-B42D-985A1DD6CCDA}"/>
              </a:ext>
            </a:extLst>
          </p:cNvPr>
          <p:cNvSpPr>
            <a:spLocks xmlns:a="http://schemas.openxmlformats.org/drawingml/2006/main" noGrp="1"/>
          </p:cNvSpPr>
          <p:nvPr/>
        </p:nvSpPr>
        <p:spPr>
          <a:xfrm xmlns:a="http://schemas.openxmlformats.org/drawingml/2006/main">
            <a:off x="609600" y="4714875"/>
            <a:ext cx="309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BF7F0"/>
                </a:solidFill>
                <a:latin typeface="Helvetica Neue"/>
                <a:ea typeface="Helvetica Neue"/>
                <a:cs typeface="Helvetica Neue"/>
              </a:defRPr>
            </a:pPr>
            <a:r>
              <a:rPr sz="1875" b="0">
                <a:solidFill>
                  <a:srgbClr val="FBF7F0"/>
                </a:solidFill>
                <a:latin typeface="Helvetica Neue"/>
                <a:ea typeface="Helvetica Neue"/>
                <a:cs typeface="Helvetica Neue"/>
              </a:rPr>
              <a:t>Appetite, available time</a:t>
            </a:r>
          </a:p>
          <a:p xmlns:a="http://schemas.openxmlformats.org/drawingml/2006/main">
            <a:pPr>
              <a:defRPr sz="1875" b="0">
                <a:solidFill>
                  <a:srgbClr val="FBF7F0"/>
                </a:solidFill>
                <a:latin typeface="Helvetica Neue"/>
                <a:ea typeface="Helvetica Neue"/>
                <a:cs typeface="Helvetica Neue"/>
              </a:defRPr>
            </a:pPr>
            <a:r>
              <a:rPr sz="1875" b="0">
                <a:solidFill>
                  <a:srgbClr val="FBF7F0"/>
                </a:solidFill>
                <a:latin typeface="Helvetica Neue"/>
                <a:ea typeface="Helvetica Neue"/>
                <a:cs typeface="Helvetica Neue"/>
              </a:rPr>
              <a:t>and meal preference</a:t>
            </a:r>
          </a:p>
        </p:txBody>
      </p:sp>
      <p:sp>
        <p:nvSpPr>
          <p:cNvPr id="9" name="">
            <a:extLst xmlns:a="http://schemas.openxmlformats.org/drawingml/2006/main">
              <a:ext uri="{FF2B5EF4-FFF2-40B4-BE49-F238E27FC236}">
                <a16:creationId xmlns:a16="http://schemas.microsoft.com/office/drawing/2014/main" id="{F577A5AD-3BE4-426D-BEDD-12B284E2B85D}"/>
              </a:ext>
            </a:extLst>
          </p:cNvPr>
          <p:cNvSpPr>
            <a:spLocks xmlns:a="http://schemas.openxmlformats.org/drawingml/2006/main" noGrp="1"/>
          </p:cNvSpPr>
          <p:nvPr/>
        </p:nvSpPr>
        <p:spPr>
          <a:xfrm xmlns:a="http://schemas.openxmlformats.org/drawingml/2006/main">
            <a:off x="4438650" y="3333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E8A66B"/>
                </a:solidFill>
                <a:latin typeface="Helvetica Neue"/>
                <a:ea typeface="Helvetica Neue"/>
                <a:cs typeface="Helvetica Neue"/>
              </a:defRPr>
            </a:pPr>
            <a:r>
              <a:rPr sz="2925" b="1">
                <a:solidFill>
                  <a:srgbClr val="E8A66B"/>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FBFCBBD3-7888-46C7-8620-AA4E46452855}"/>
              </a:ext>
            </a:extLst>
          </p:cNvPr>
          <p:cNvSpPr>
            <a:spLocks xmlns:a="http://schemas.openxmlformats.org/drawingml/2006/main" noGrp="1"/>
          </p:cNvSpPr>
          <p:nvPr/>
        </p:nvSpPr>
        <p:spPr>
          <a:xfrm xmlns:a="http://schemas.openxmlformats.org/drawingml/2006/main">
            <a:off x="4438650" y="40481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BF7F0"/>
                </a:solidFill>
                <a:latin typeface="Helvetica Neue"/>
                <a:ea typeface="Helvetica Neue"/>
                <a:cs typeface="Helvetica Neue"/>
              </a:defRPr>
            </a:pPr>
            <a:r>
              <a:rPr sz="2250" b="1">
                <a:solidFill>
                  <a:srgbClr val="FBF7F0"/>
                </a:solidFill>
                <a:latin typeface="Helvetica Neue"/>
                <a:ea typeface="Helvetica Neue"/>
                <a:cs typeface="Helvetica Neue"/>
              </a:rPr>
              <a:t>Choose</a:t>
            </a:r>
          </a:p>
        </p:txBody>
      </p:sp>
      <p:sp>
        <p:nvSpPr>
          <p:cNvPr id="11" name="">
            <a:extLst xmlns:a="http://schemas.openxmlformats.org/drawingml/2006/main">
              <a:ext uri="{FF2B5EF4-FFF2-40B4-BE49-F238E27FC236}">
                <a16:creationId xmlns:a16="http://schemas.microsoft.com/office/drawing/2014/main" id="{1DB9CDFE-ADDC-4CD2-B510-C83DFB57AB9B}"/>
              </a:ext>
            </a:extLst>
          </p:cNvPr>
          <p:cNvSpPr>
            <a:spLocks xmlns:a="http://schemas.openxmlformats.org/drawingml/2006/main" noGrp="1"/>
          </p:cNvSpPr>
          <p:nvPr/>
        </p:nvSpPr>
        <p:spPr>
          <a:xfrm xmlns:a="http://schemas.openxmlformats.org/drawingml/2006/main">
            <a:off x="4438650" y="4714875"/>
            <a:ext cx="309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BF7F0"/>
                </a:solidFill>
                <a:latin typeface="Helvetica Neue"/>
                <a:ea typeface="Helvetica Neue"/>
                <a:cs typeface="Helvetica Neue"/>
              </a:defRPr>
            </a:pPr>
            <a:r>
              <a:rPr sz="1875" b="0">
                <a:solidFill>
                  <a:srgbClr val="FBF7F0"/>
                </a:solidFill>
                <a:latin typeface="Helvetica Neue"/>
                <a:ea typeface="Helvetica Neue"/>
                <a:cs typeface="Helvetica Neue"/>
              </a:rPr>
              <a:t>A few reviewed options</a:t>
            </a:r>
          </a:p>
          <a:p xmlns:a="http://schemas.openxmlformats.org/drawingml/2006/main">
            <a:pPr>
              <a:defRPr sz="1875" b="0">
                <a:solidFill>
                  <a:srgbClr val="FBF7F0"/>
                </a:solidFill>
                <a:latin typeface="Helvetica Neue"/>
                <a:ea typeface="Helvetica Neue"/>
                <a:cs typeface="Helvetica Neue"/>
              </a:defRPr>
            </a:pPr>
            <a:r>
              <a:rPr sz="1875" b="0">
                <a:solidFill>
                  <a:srgbClr val="FBF7F0"/>
                </a:solidFill>
                <a:latin typeface="Helvetica Neue"/>
                <a:ea typeface="Helvetica Neue"/>
                <a:cs typeface="Helvetica Neue"/>
              </a:rPr>
              <a:t>with editable portions</a:t>
            </a:r>
          </a:p>
        </p:txBody>
      </p:sp>
      <p:sp>
        <p:nvSpPr>
          <p:cNvPr id="12" name="">
            <a:extLst xmlns:a="http://schemas.openxmlformats.org/drawingml/2006/main">
              <a:ext uri="{FF2B5EF4-FFF2-40B4-BE49-F238E27FC236}">
                <a16:creationId xmlns:a16="http://schemas.microsoft.com/office/drawing/2014/main" id="{EB9A1B6D-029D-4FDA-88C8-2D16F9EB1B64}"/>
              </a:ext>
            </a:extLst>
          </p:cNvPr>
          <p:cNvSpPr>
            <a:spLocks xmlns:a="http://schemas.openxmlformats.org/drawingml/2006/main" noGrp="1"/>
          </p:cNvSpPr>
          <p:nvPr/>
        </p:nvSpPr>
        <p:spPr>
          <a:xfrm xmlns:a="http://schemas.openxmlformats.org/drawingml/2006/main">
            <a:off x="8286750" y="3333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E8A66B"/>
                </a:solidFill>
                <a:latin typeface="Helvetica Neue"/>
                <a:ea typeface="Helvetica Neue"/>
                <a:cs typeface="Helvetica Neue"/>
              </a:defRPr>
            </a:pPr>
            <a:r>
              <a:rPr sz="2925" b="1">
                <a:solidFill>
                  <a:srgbClr val="E8A66B"/>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17D80417-37FB-4CE3-BED1-C710E904A26F}"/>
              </a:ext>
            </a:extLst>
          </p:cNvPr>
          <p:cNvSpPr>
            <a:spLocks xmlns:a="http://schemas.openxmlformats.org/drawingml/2006/main" noGrp="1"/>
          </p:cNvSpPr>
          <p:nvPr/>
        </p:nvSpPr>
        <p:spPr>
          <a:xfrm xmlns:a="http://schemas.openxmlformats.org/drawingml/2006/main">
            <a:off x="8286750" y="40481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BF7F0"/>
                </a:solidFill>
                <a:latin typeface="Helvetica Neue"/>
                <a:ea typeface="Helvetica Neue"/>
                <a:cs typeface="Helvetica Neue"/>
              </a:defRPr>
            </a:pPr>
            <a:r>
              <a:rPr sz="2250" b="1">
                <a:solidFill>
                  <a:srgbClr val="FBF7F0"/>
                </a:solidFill>
                <a:latin typeface="Helvetica Neue"/>
                <a:ea typeface="Helvetica Neue"/>
                <a:cs typeface="Helvetica Neue"/>
              </a:rPr>
              <a:t>Remember</a:t>
            </a:r>
          </a:p>
        </p:txBody>
      </p:sp>
      <p:sp>
        <p:nvSpPr>
          <p:cNvPr id="14" name="">
            <a:extLst xmlns:a="http://schemas.openxmlformats.org/drawingml/2006/main">
              <a:ext uri="{FF2B5EF4-FFF2-40B4-BE49-F238E27FC236}">
                <a16:creationId xmlns:a16="http://schemas.microsoft.com/office/drawing/2014/main" id="{4AEE6B8D-1D9A-47E4-AA44-DFE32E726339}"/>
              </a:ext>
            </a:extLst>
          </p:cNvPr>
          <p:cNvSpPr>
            <a:spLocks xmlns:a="http://schemas.openxmlformats.org/drawingml/2006/main" noGrp="1"/>
          </p:cNvSpPr>
          <p:nvPr/>
        </p:nvSpPr>
        <p:spPr>
          <a:xfrm xmlns:a="http://schemas.openxmlformats.org/drawingml/2006/main">
            <a:off x="8286750" y="4714875"/>
            <a:ext cx="309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BF7F0"/>
                </a:solidFill>
                <a:latin typeface="Helvetica Neue"/>
                <a:ea typeface="Helvetica Neue"/>
                <a:cs typeface="Helvetica Neue"/>
              </a:defRPr>
            </a:pPr>
            <a:r>
              <a:rPr sz="1875" b="0">
                <a:solidFill>
                  <a:srgbClr val="FBF7F0"/>
                </a:solidFill>
                <a:latin typeface="Helvetica Neue"/>
                <a:ea typeface="Helvetica Neue"/>
                <a:cs typeface="Helvetica Neue"/>
              </a:rPr>
              <a:t>Save what worked</a:t>
            </a:r>
          </a:p>
          <a:p xmlns:a="http://schemas.openxmlformats.org/drawingml/2006/main">
            <a:pPr>
              <a:defRPr sz="1875" b="0">
                <a:solidFill>
                  <a:srgbClr val="FBF7F0"/>
                </a:solidFill>
                <a:latin typeface="Helvetica Neue"/>
                <a:ea typeface="Helvetica Neue"/>
                <a:cs typeface="Helvetica Neue"/>
              </a:defRPr>
            </a:pPr>
            <a:r>
              <a:rPr sz="1875" b="0">
                <a:solidFill>
                  <a:srgbClr val="FBF7F0"/>
                </a:solidFill>
                <a:latin typeface="Helvetica Neue"/>
                <a:ea typeface="Helvetica Neue"/>
                <a:cs typeface="Helvetica Neue"/>
              </a:rPr>
              <a:t>for an easier next meal</a:t>
            </a:r>
          </a:p>
        </p:txBody>
      </p:sp>
    </p:spTree>
    <p:extLst>
      <p:ext uri="{BB962C8B-B14F-4D97-AF65-F5344CB8AC3E}">
        <p14:creationId xmlns:p14="http://schemas.microsoft.com/office/powerpoint/2010/main" val="1332959654"/>
      </p:ext>
    </p:extLst>
  </p:cSld>
</p:sld>
</file>

<file path=ppt/slides/slide7.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0056AF-01E3-41DD-9C61-1AF5DE5367AD}"/>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A84C7856-A26F-49D3-9E0E-BE33194ACAC1}"/>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The first release makes the whole loop useful</a:t>
            </a:r>
          </a:p>
        </p:txBody>
      </p:sp>
      <p:sp>
        <p:nvSpPr>
          <p:cNvPr id="3" name="">
            <a:extLst xmlns:a="http://schemas.openxmlformats.org/drawingml/2006/main">
              <a:ext uri="{FF2B5EF4-FFF2-40B4-BE49-F238E27FC236}">
                <a16:creationId xmlns:a16="http://schemas.microsoft.com/office/drawing/2014/main" id="{355FB1B0-E9E3-4D5B-AE03-A3676B60E106}"/>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B07D332D-7286-4542-B848-06A90BFD5347}"/>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44F03CD-004B-4041-8715-D91010981A5B}"/>
              </a:ext>
            </a:extLst>
          </p:cNvPr>
          <p:cNvSpPr>
            <a:spLocks xmlns:a="http://schemas.openxmlformats.org/drawingml/2006/main" noGrp="1"/>
          </p:cNvSpPr>
          <p:nvPr/>
        </p:nvSpPr>
        <p:spPr>
          <a:xfrm xmlns:a="http://schemas.openxmlformats.org/drawingml/2006/main">
            <a:off x="609600" y="20002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My Day + quick repeat</a:t>
            </a:r>
          </a:p>
        </p:txBody>
      </p:sp>
      <p:sp>
        <p:nvSpPr>
          <p:cNvPr id="6" name="">
            <a:extLst xmlns:a="http://schemas.openxmlformats.org/drawingml/2006/main">
              <a:ext uri="{FF2B5EF4-FFF2-40B4-BE49-F238E27FC236}">
                <a16:creationId xmlns:a16="http://schemas.microsoft.com/office/drawing/2014/main" id="{DAD0AD4C-ED9E-4D13-991B-CE1F4D873633}"/>
              </a:ext>
            </a:extLst>
          </p:cNvPr>
          <p:cNvSpPr>
            <a:spLocks xmlns:a="http://schemas.openxmlformats.org/drawingml/2006/main" noGrp="1"/>
          </p:cNvSpPr>
          <p:nvPr/>
        </p:nvSpPr>
        <p:spPr>
          <a:xfrm xmlns:a="http://schemas.openxmlformats.org/drawingml/2006/main">
            <a:off x="4191000" y="200025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Edit goals, correct an entry and reuse a familiar meal in a few taps.</a:t>
            </a:r>
          </a:p>
        </p:txBody>
      </p:sp>
      <p:sp>
        <p:nvSpPr>
          <p:cNvPr id="7" name="">
            <a:extLst xmlns:a="http://schemas.openxmlformats.org/drawingml/2006/main">
              <a:ext uri="{FF2B5EF4-FFF2-40B4-BE49-F238E27FC236}">
                <a16:creationId xmlns:a16="http://schemas.microsoft.com/office/drawing/2014/main" id="{A060BE07-803F-4C2A-BDB9-34A00F11D644}"/>
              </a:ext>
            </a:extLst>
          </p:cNvPr>
          <p:cNvSpPr>
            <a:spLocks xmlns:a="http://schemas.openxmlformats.org/drawingml/2006/main" noGrp="1"/>
          </p:cNvSpPr>
          <p:nvPr/>
        </p:nvSpPr>
        <p:spPr>
          <a:xfrm xmlns:a="http://schemas.openxmlformats.org/drawingml/2006/main">
            <a:off x="609600" y="323850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Flexible Week</a:t>
            </a:r>
          </a:p>
        </p:txBody>
      </p:sp>
      <p:sp>
        <p:nvSpPr>
          <p:cNvPr id="8" name="">
            <a:extLst xmlns:a="http://schemas.openxmlformats.org/drawingml/2006/main">
              <a:ext uri="{FF2B5EF4-FFF2-40B4-BE49-F238E27FC236}">
                <a16:creationId xmlns:a16="http://schemas.microsoft.com/office/drawing/2014/main" id="{5E513C3E-C131-49BC-926D-0359046F3D6C}"/>
              </a:ext>
            </a:extLst>
          </p:cNvPr>
          <p:cNvSpPr>
            <a:spLocks xmlns:a="http://schemas.openxmlformats.org/drawingml/2006/main" noGrp="1"/>
          </p:cNvSpPr>
          <p:nvPr/>
        </p:nvSpPr>
        <p:spPr>
          <a:xfrm xmlns:a="http://schemas.openxmlformats.org/drawingml/2006/main">
            <a:off x="4191000" y="323850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Plan three days, reuse leftovers and keep an editable grocery checklist.</a:t>
            </a:r>
          </a:p>
        </p:txBody>
      </p:sp>
      <p:sp>
        <p:nvSpPr>
          <p:cNvPr id="9" name="">
            <a:extLst xmlns:a="http://schemas.openxmlformats.org/drawingml/2006/main">
              <a:ext uri="{FF2B5EF4-FFF2-40B4-BE49-F238E27FC236}">
                <a16:creationId xmlns:a16="http://schemas.microsoft.com/office/drawing/2014/main" id="{8A4B5AD1-6C39-40B9-99A7-6557F21CBD84}"/>
              </a:ext>
            </a:extLst>
          </p:cNvPr>
          <p:cNvSpPr>
            <a:spLocks xmlns:a="http://schemas.openxmlformats.org/drawingml/2006/main" noGrp="1"/>
          </p:cNvSpPr>
          <p:nvPr/>
        </p:nvSpPr>
        <p:spPr>
          <a:xfrm xmlns:a="http://schemas.openxmlformats.org/drawingml/2006/main">
            <a:off x="609600" y="44767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Rescue Meal</a:t>
            </a:r>
          </a:p>
        </p:txBody>
      </p:sp>
      <p:sp>
        <p:nvSpPr>
          <p:cNvPr id="10" name="">
            <a:extLst xmlns:a="http://schemas.openxmlformats.org/drawingml/2006/main">
              <a:ext uri="{FF2B5EF4-FFF2-40B4-BE49-F238E27FC236}">
                <a16:creationId xmlns:a16="http://schemas.microsoft.com/office/drawing/2014/main" id="{8513D0DC-C7D7-4A8D-8584-516436E89A07}"/>
              </a:ext>
            </a:extLst>
          </p:cNvPr>
          <p:cNvSpPr>
            <a:spLocks xmlns:a="http://schemas.openxmlformats.org/drawingml/2006/main" noGrp="1"/>
          </p:cNvSpPr>
          <p:nvPr/>
        </p:nvSpPr>
        <p:spPr>
          <a:xfrm xmlns:a="http://schemas.openxmlformats.org/drawingml/2006/main">
            <a:off x="4191000" y="447675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Replace one meal when plans change. Review the grocery delta and undo the swap.</a:t>
            </a:r>
          </a:p>
        </p:txBody>
      </p:sp>
    </p:spTree>
    <p:extLst>
      <p:ext uri="{BB962C8B-B14F-4D97-AF65-F5344CB8AC3E}">
        <p14:creationId xmlns:p14="http://schemas.microsoft.com/office/powerpoint/2010/main" val="937661677"/>
      </p:ext>
    </p:extLst>
  </p:cSld>
</p:sld>
</file>

<file path=ppt/slides/slide8.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876AD4-EC81-416C-8F8D-687D4E643120}"/>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14F8EF69-EE22-418A-AE9A-E16BBE836C71}"/>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A broader portfolio follows evidence</a:t>
            </a:r>
          </a:p>
        </p:txBody>
      </p:sp>
      <p:sp>
        <p:nvSpPr>
          <p:cNvPr id="3" name="">
            <a:extLst xmlns:a="http://schemas.openxmlformats.org/drawingml/2006/main">
              <a:ext uri="{FF2B5EF4-FFF2-40B4-BE49-F238E27FC236}">
                <a16:creationId xmlns:a16="http://schemas.microsoft.com/office/drawing/2014/main" id="{0A246596-0471-4140-B535-A7803ADC3829}"/>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12C674DC-8645-439A-88B5-AA6D3F7E2D5D}"/>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09600" y="2000250"/>
          <a:ext xmlns:a="http://schemas.openxmlformats.org/drawingml/2006/main" cx="10972800" cy="3686175"/>
        </p:xfrm>
        <a:graphic xmlns:a="http://schemas.openxmlformats.org/drawingml/2006/main">
          <a:graphicData uri="http://schemas.openxmlformats.org/drawingml/2006/table">
            <a:tbl>
              <a:tblPr/>
              <a:tblGrid>
                <a:gridCol w="2809875"/>
                <a:gridCol w="4714875"/>
                <a:gridCol w="3448050"/>
              </a:tblGrid>
              <a:tr h="737235">
                <a:tc>
                  <a:txBody>
                    <a:bodyPr/>
                    <a:lstStyle/>
                    <a:p>
                      <a:r>
                        <a:rPr sz="1725" b="1">
                          <a:solidFill>
                            <a:srgbClr val="FBF7F0"/>
                          </a:solidFill>
                          <a:latin typeface="Helvetica Neue"/>
                          <a:ea typeface="Helvetica Neue"/>
                          <a:cs typeface="Helvetica Neue"/>
                        </a:rPr>
                        <a:t>Concept</a:t>
                      </a:r>
                    </a:p>
                  </a:txBody>
                  <a:tcPr marL="91440" marR="91440" marT="45720" marB="45720">
                    <a:solidFill>
                      <a:srgbClr val="2A1E16"/>
                    </a:solidFill>
                  </a:tcPr>
                </a:tc>
                <a:tc>
                  <a:txBody>
                    <a:bodyPr/>
                    <a:lstStyle/>
                    <a:p>
                      <a:r>
                        <a:rPr sz="1725" b="1">
                          <a:solidFill>
                            <a:srgbClr val="FBF7F0"/>
                          </a:solidFill>
                          <a:latin typeface="Helvetica Neue"/>
                          <a:ea typeface="Helvetica Neue"/>
                          <a:cs typeface="Helvetica Neue"/>
                        </a:rPr>
                        <a:t>Customer value</a:t>
                      </a:r>
                    </a:p>
                  </a:txBody>
                  <a:tcPr marL="91440" marR="91440" marT="45720" marB="45720">
                    <a:solidFill>
                      <a:srgbClr val="2A1E16"/>
                    </a:solidFill>
                  </a:tcPr>
                </a:tc>
                <a:tc>
                  <a:txBody>
                    <a:bodyPr/>
                    <a:lstStyle/>
                    <a:p>
                      <a:r>
                        <a:rPr sz="1725" b="1">
                          <a:solidFill>
                            <a:srgbClr val="FBF7F0"/>
                          </a:solidFill>
                          <a:latin typeface="Helvetica Neue"/>
                          <a:ea typeface="Helvetica Neue"/>
                          <a:cs typeface="Helvetica Neue"/>
                        </a:rPr>
                        <a:t>Release condition</a:t>
                      </a:r>
                    </a:p>
                  </a:txBody>
                  <a:tcPr marL="91440" marR="91440" marT="45720" marB="45720">
                    <a:solidFill>
                      <a:srgbClr val="2A1E16"/>
                    </a:solidFill>
                  </a:tcPr>
                </a:tc>
              </a:tr>
              <a:tr h="737235">
                <a:tc>
                  <a:txBody>
                    <a:bodyPr/>
                    <a:lstStyle/>
                    <a:p>
                      <a:r>
                        <a:rPr sz="1650" b="0">
                          <a:solidFill>
                            <a:srgbClr val="2A1E16"/>
                          </a:solidFill>
                          <a:latin typeface="Helvetica Neue"/>
                          <a:ea typeface="Helvetica Neue"/>
                          <a:cs typeface="Helvetica Neue"/>
                        </a:rPr>
                        <a:t>Meal Memory</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Review assisted capture once,</a:t>
                      </a:r>
                    </a:p>
                    <a:p>
                      <a:r>
                        <a:rPr sz="1650" b="0">
                          <a:solidFill>
                            <a:srgbClr val="2A1E16"/>
                          </a:solidFill>
                          <a:latin typeface="Helvetica Neue"/>
                          <a:ea typeface="Helvetica Neue"/>
                          <a:cs typeface="Helvetica Neue"/>
                        </a:rPr>
                        <a:t>reuse the corrected meal</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Capture saves time</a:t>
                      </a:r>
                    </a:p>
                    <a:p>
                      <a:r>
                        <a:rPr sz="1650" b="0">
                          <a:solidFill>
                            <a:srgbClr val="2A1E16"/>
                          </a:solidFill>
                          <a:latin typeface="Helvetica Neue"/>
                          <a:ea typeface="Helvetica Neue"/>
                          <a:cs typeface="Helvetica Neue"/>
                        </a:rPr>
                        <a:t>including corrections</a:t>
                      </a:r>
                    </a:p>
                  </a:txBody>
                  <a:tcPr marL="91440" marR="91440" marT="45720" marB="45720">
                    <a:solidFill>
                      <a:srgbClr val="FBF7F0"/>
                    </a:solidFill>
                  </a:tcPr>
                </a:tc>
              </a:tr>
              <a:tr h="737235">
                <a:tc>
                  <a:txBody>
                    <a:bodyPr/>
                    <a:lstStyle/>
                    <a:p>
                      <a:r>
                        <a:rPr sz="1650" b="0">
                          <a:solidFill>
                            <a:srgbClr val="2A1E16"/>
                          </a:solidFill>
                          <a:latin typeface="Helvetica Neue"/>
                          <a:ea typeface="Helvetica Neue"/>
                          <a:cs typeface="Helvetica Neue"/>
                        </a:rPr>
                        <a:t>Strength and wins</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See progress beyond weight</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Core loop retains users</a:t>
                      </a:r>
                    </a:p>
                  </a:txBody>
                  <a:tcPr marL="91440" marR="91440" marT="45720" marB="45720">
                    <a:solidFill>
                      <a:srgbClr val="F5EFE6"/>
                    </a:solidFill>
                  </a:tcPr>
                </a:tc>
              </a:tr>
              <a:tr h="737235">
                <a:tc>
                  <a:txBody>
                    <a:bodyPr/>
                    <a:lstStyle/>
                    <a:p>
                      <a:r>
                        <a:rPr sz="1650" b="0">
                          <a:solidFill>
                            <a:srgbClr val="2A1E16"/>
                          </a:solidFill>
                          <a:latin typeface="Helvetica Neue"/>
                          <a:ea typeface="Helvetica Neue"/>
                          <a:cs typeface="Helvetica Neue"/>
                        </a:rPr>
                        <a:t>Weekly Story</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Reflect and prepare a visit brief</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Sufficient data quality</a:t>
                      </a:r>
                    </a:p>
                  </a:txBody>
                  <a:tcPr marL="91440" marR="91440" marT="45720" marB="45720">
                    <a:solidFill>
                      <a:srgbClr val="FBF7F0"/>
                    </a:solidFill>
                  </a:tcPr>
                </a:tc>
              </a:tr>
              <a:tr h="737235">
                <a:tc>
                  <a:txBody>
                    <a:bodyPr/>
                    <a:lstStyle/>
                    <a:p>
                      <a:r>
                        <a:rPr sz="1650" b="0">
                          <a:solidFill>
                            <a:srgbClr val="2A1E16"/>
                          </a:solidFill>
                          <a:latin typeface="Helvetica Neue"/>
                          <a:ea typeface="Helvetica Neue"/>
                          <a:cs typeface="Helvetica Neue"/>
                        </a:rPr>
                        <a:t>Gentle return</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Resume without streak pressure</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Consent and useful reminders</a:t>
                      </a:r>
                    </a:p>
                  </a:txBody>
                  <a:tcPr marL="91440" marR="91440" marT="45720" marB="45720">
                    <a:solidFill>
                      <a:srgbClr val="F5EFE6"/>
                    </a:solidFill>
                  </a:tcPr>
                </a:tc>
              </a:tr>
            </a:tbl>
          </a:graphicData>
        </a:graphic>
      </p:graphicFrame>
      <p:sp>
        <p:nvSpPr>
          <p:cNvPr id="6" name="">
            <a:extLst xmlns:a="http://schemas.openxmlformats.org/drawingml/2006/main">
              <a:ext uri="{FF2B5EF4-FFF2-40B4-BE49-F238E27FC236}">
                <a16:creationId xmlns:a16="http://schemas.microsoft.com/office/drawing/2014/main" id="{78537344-2782-45BA-8348-0E37918EB57D}"/>
              </a:ext>
            </a:extLst>
          </p:cNvPr>
          <p:cNvSpPr>
            <a:spLocks xmlns:a="http://schemas.openxmlformats.org/drawingml/2006/main" noGrp="1"/>
          </p:cNvSpPr>
          <p:nvPr/>
        </p:nvSpPr>
        <p:spPr>
          <a:xfrm xmlns:a="http://schemas.openxmlformats.org/drawingml/2006/main">
            <a:off x="609600" y="58293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8522F"/>
                </a:solidFill>
                <a:latin typeface="Helvetica Neue"/>
                <a:ea typeface="Helvetica Neue"/>
                <a:cs typeface="Helvetica Neue"/>
              </a:defRPr>
            </a:pPr>
            <a:r>
              <a:rPr sz="1800" b="0">
                <a:solidFill>
                  <a:srgbClr val="A8522F"/>
                </a:solidFill>
                <a:latin typeface="Helvetica Neue"/>
                <a:ea typeface="Helvetica Neue"/>
                <a:cs typeface="Helvetica Neue"/>
              </a:rPr>
              <a:t>Photo input and later concepts remain conditional scope.</a:t>
            </a:r>
          </a:p>
        </p:txBody>
      </p:sp>
    </p:spTree>
    <p:extLst>
      <p:ext uri="{BB962C8B-B14F-4D97-AF65-F5344CB8AC3E}">
        <p14:creationId xmlns:p14="http://schemas.microsoft.com/office/powerpoint/2010/main" val="52003831"/>
      </p:ext>
    </p:extLst>
  </p:cSld>
</p:sld>
</file>

<file path=ppt/slides/slide9.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116CF7E-C87F-419A-A9B4-FE417CAC851F}"/>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082FA05D-9A09-4AAE-B133-4DC2021E8193}"/>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Implementation builds on the current stack</a:t>
            </a:r>
          </a:p>
        </p:txBody>
      </p:sp>
      <p:sp>
        <p:nvSpPr>
          <p:cNvPr id="3" name="">
            <a:extLst xmlns:a="http://schemas.openxmlformats.org/drawingml/2006/main">
              <a:ext uri="{FF2B5EF4-FFF2-40B4-BE49-F238E27FC236}">
                <a16:creationId xmlns:a16="http://schemas.microsoft.com/office/drawing/2014/main" id="{42E31B5D-B45A-44CF-ACCA-BF8FE27776EA}"/>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C4DBAB35-A32B-4715-8C33-F938ABA7F42D}"/>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B0D30B45-5C28-4891-B764-D0F182BBAFAE}"/>
              </a:ext>
            </a:extLst>
          </p:cNvPr>
          <p:cNvSpPr>
            <a:spLocks xmlns:a="http://schemas.openxmlformats.org/drawingml/2006/main" noGrp="1"/>
          </p:cNvSpPr>
          <p:nvPr/>
        </p:nvSpPr>
        <p:spPr>
          <a:xfrm xmlns:a="http://schemas.openxmlformats.org/drawingml/2006/main">
            <a:off x="609600" y="20002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React PWA</a:t>
            </a:r>
          </a:p>
        </p:txBody>
      </p:sp>
      <p:sp>
        <p:nvSpPr>
          <p:cNvPr id="6" name="">
            <a:extLst xmlns:a="http://schemas.openxmlformats.org/drawingml/2006/main">
              <a:ext uri="{FF2B5EF4-FFF2-40B4-BE49-F238E27FC236}">
                <a16:creationId xmlns:a16="http://schemas.microsoft.com/office/drawing/2014/main" id="{32CE504E-E496-4FD0-9FE5-E7F2EB2CA546}"/>
              </a:ext>
            </a:extLst>
          </p:cNvPr>
          <p:cNvSpPr>
            <a:spLocks xmlns:a="http://schemas.openxmlformats.org/drawingml/2006/main" noGrp="1"/>
          </p:cNvSpPr>
          <p:nvPr/>
        </p:nvSpPr>
        <p:spPr>
          <a:xfrm xmlns:a="http://schemas.openxmlformats.org/drawingml/2006/main">
            <a:off x="4191000" y="200025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Keep existing screens and hooks. Add check-ins, recipe selection and an offline mutation queue.</a:t>
            </a:r>
          </a:p>
        </p:txBody>
      </p:sp>
      <p:sp>
        <p:nvSpPr>
          <p:cNvPr id="7" name="">
            <a:extLst xmlns:a="http://schemas.openxmlformats.org/drawingml/2006/main">
              <a:ext uri="{FF2B5EF4-FFF2-40B4-BE49-F238E27FC236}">
                <a16:creationId xmlns:a16="http://schemas.microsoft.com/office/drawing/2014/main" id="{02BE9E9D-1E82-4B4F-9C05-C37CD2B907B0}"/>
              </a:ext>
            </a:extLst>
          </p:cNvPr>
          <p:cNvSpPr>
            <a:spLocks xmlns:a="http://schemas.openxmlformats.org/drawingml/2006/main" noGrp="1"/>
          </p:cNvSpPr>
          <p:nvPr/>
        </p:nvSpPr>
        <p:spPr>
          <a:xfrm xmlns:a="http://schemas.openxmlformats.org/drawingml/2006/main">
            <a:off x="609600" y="323850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Supabase</a:t>
            </a:r>
          </a:p>
        </p:txBody>
      </p:sp>
      <p:sp>
        <p:nvSpPr>
          <p:cNvPr id="8" name="">
            <a:extLst xmlns:a="http://schemas.openxmlformats.org/drawingml/2006/main">
              <a:ext uri="{FF2B5EF4-FFF2-40B4-BE49-F238E27FC236}">
                <a16:creationId xmlns:a16="http://schemas.microsoft.com/office/drawing/2014/main" id="{EC0C5746-1699-4733-BA78-C2AC799C4780}"/>
              </a:ext>
            </a:extLst>
          </p:cNvPr>
          <p:cNvSpPr>
            <a:spLocks xmlns:a="http://schemas.openxmlformats.org/drawingml/2006/main" noGrp="1"/>
          </p:cNvSpPr>
          <p:nvPr/>
        </p:nvSpPr>
        <p:spPr>
          <a:xfrm xmlns:a="http://schemas.openxmlformats.org/drawingml/2006/main">
            <a:off x="4191000" y="323850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Extend logs additively. Reuse plans and groceries. Apply user ownership rules and atomic saves.</a:t>
            </a:r>
          </a:p>
        </p:txBody>
      </p:sp>
      <p:sp>
        <p:nvSpPr>
          <p:cNvPr id="9" name="">
            <a:extLst xmlns:a="http://schemas.openxmlformats.org/drawingml/2006/main">
              <a:ext uri="{FF2B5EF4-FFF2-40B4-BE49-F238E27FC236}">
                <a16:creationId xmlns:a16="http://schemas.microsoft.com/office/drawing/2014/main" id="{8A77B656-090D-467A-89E6-79E6146EBD5F}"/>
              </a:ext>
            </a:extLst>
          </p:cNvPr>
          <p:cNvSpPr>
            <a:spLocks xmlns:a="http://schemas.openxmlformats.org/drawingml/2006/main" noGrp="1"/>
          </p:cNvSpPr>
          <p:nvPr/>
        </p:nvSpPr>
        <p:spPr>
          <a:xfrm xmlns:a="http://schemas.openxmlformats.org/drawingml/2006/main">
            <a:off x="609600" y="44767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Server functions</a:t>
            </a:r>
          </a:p>
        </p:txBody>
      </p:sp>
      <p:sp>
        <p:nvSpPr>
          <p:cNvPr id="10" name="">
            <a:extLst xmlns:a="http://schemas.openxmlformats.org/drawingml/2006/main">
              <a:ext uri="{FF2B5EF4-FFF2-40B4-BE49-F238E27FC236}">
                <a16:creationId xmlns:a16="http://schemas.microsoft.com/office/drawing/2014/main" id="{977B030F-ABBA-480F-BAE5-AFAB1B827429}"/>
              </a:ext>
            </a:extLst>
          </p:cNvPr>
          <p:cNvSpPr>
            <a:spLocks xmlns:a="http://schemas.openxmlformats.org/drawingml/2006/main" noGrp="1"/>
          </p:cNvSpPr>
          <p:nvPr/>
        </p:nvSpPr>
        <p:spPr>
          <a:xfrm xmlns:a="http://schemas.openxmlformats.org/drawingml/2006/main">
            <a:off x="4191000" y="447675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Rank reviewed meals and call food providers. Require confirmation before saving AI estimates.</a:t>
            </a:r>
          </a:p>
        </p:txBody>
      </p:sp>
    </p:spTree>
    <p:extLst>
      <p:ext uri="{BB962C8B-B14F-4D97-AF65-F5344CB8AC3E}">
        <p14:creationId xmlns:p14="http://schemas.microsoft.com/office/powerpoint/2010/main" val="177792380"/>
      </p:ext>
    </p:extLst>
  </p:cSld>
</p:sld>
</file>

<file path=ppt/slides/slide10.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B2AF72-5110-4C1E-B292-6FFAEF8B07C1}"/>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DF0EA190-9020-4165-877B-45602759D715}"/>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The 12 week scope fits a two-engineer team</a:t>
            </a:r>
          </a:p>
        </p:txBody>
      </p:sp>
      <p:sp>
        <p:nvSpPr>
          <p:cNvPr id="3" name="">
            <a:extLst xmlns:a="http://schemas.openxmlformats.org/drawingml/2006/main">
              <a:ext uri="{FF2B5EF4-FFF2-40B4-BE49-F238E27FC236}">
                <a16:creationId xmlns:a16="http://schemas.microsoft.com/office/drawing/2014/main" id="{000273B1-41A2-4A7F-BF6B-28FDED5EA036}"/>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FD34B360-31BD-4963-9AF6-6F82C08D4BEC}"/>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609600" y="1971675"/>
          <a:ext xmlns:a="http://schemas.openxmlformats.org/drawingml/2006/main" cx="10972800" cy="3819525"/>
        </p:xfrm>
        <a:graphic xmlns:a="http://schemas.openxmlformats.org/drawingml/2006/main">
          <a:graphicData uri="http://schemas.openxmlformats.org/drawingml/2006/table">
            <a:tbl>
              <a:tblPr/>
              <a:tblGrid>
                <a:gridCol w="5715000"/>
                <a:gridCol w="2476500"/>
                <a:gridCol w="2781300"/>
              </a:tblGrid>
              <a:tr h="545646">
                <a:tc>
                  <a:txBody>
                    <a:bodyPr/>
                    <a:lstStyle/>
                    <a:p>
                      <a:r>
                        <a:rPr sz="1725" b="1">
                          <a:solidFill>
                            <a:srgbClr val="FBF7F0"/>
                          </a:solidFill>
                          <a:latin typeface="Helvetica Neue"/>
                          <a:ea typeface="Helvetica Neue"/>
                          <a:cs typeface="Helvetica Neue"/>
                        </a:rPr>
                        <a:t>Allocation</a:t>
                      </a:r>
                    </a:p>
                  </a:txBody>
                  <a:tcPr marL="91440" marR="91440" marT="45720" marB="45720">
                    <a:solidFill>
                      <a:srgbClr val="2A1E16"/>
                    </a:solidFill>
                  </a:tcPr>
                </a:tc>
                <a:tc>
                  <a:txBody>
                    <a:bodyPr/>
                    <a:lstStyle/>
                    <a:p>
                      <a:r>
                        <a:rPr sz="1725" b="1">
                          <a:solidFill>
                            <a:srgbClr val="FBF7F0"/>
                          </a:solidFill>
                          <a:latin typeface="Helvetica Neue"/>
                          <a:ea typeface="Helvetica Neue"/>
                          <a:cs typeface="Helvetica Neue"/>
                        </a:rPr>
                        <a:t>Engineer-weeks</a:t>
                      </a:r>
                    </a:p>
                  </a:txBody>
                  <a:tcPr marL="91440" marR="91440" marT="45720" marB="45720">
                    <a:solidFill>
                      <a:srgbClr val="2A1E16"/>
                    </a:solidFill>
                  </a:tcPr>
                </a:tc>
                <a:tc>
                  <a:txBody>
                    <a:bodyPr/>
                    <a:lstStyle/>
                    <a:p>
                      <a:r>
                        <a:rPr sz="1725" b="1">
                          <a:solidFill>
                            <a:srgbClr val="FBF7F0"/>
                          </a:solidFill>
                          <a:latin typeface="Helvetica Neue"/>
                          <a:ea typeface="Helvetica Neue"/>
                          <a:cs typeface="Helvetica Neue"/>
                        </a:rPr>
                        <a:t>Commitment</a:t>
                      </a:r>
                    </a:p>
                  </a:txBody>
                  <a:tcPr marL="91440" marR="91440" marT="45720" marB="45720">
                    <a:solidFill>
                      <a:srgbClr val="2A1E16"/>
                    </a:solidFill>
                  </a:tcPr>
                </a:tc>
              </a:tr>
              <a:tr h="545646">
                <a:tc>
                  <a:txBody>
                    <a:bodyPr/>
                    <a:lstStyle/>
                    <a:p>
                      <a:r>
                        <a:rPr sz="1650" b="0">
                          <a:solidFill>
                            <a:srgbClr val="2A1E16"/>
                          </a:solidFill>
                          <a:latin typeface="Helvetica Neue"/>
                          <a:ea typeface="Helvetica Neue"/>
                          <a:cs typeface="Helvetica Neue"/>
                        </a:rPr>
                        <a:t>Foundation and instrumentation</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2</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Required</a:t>
                      </a:r>
                    </a:p>
                  </a:txBody>
                  <a:tcPr marL="91440" marR="91440" marT="45720" marB="45720">
                    <a:solidFill>
                      <a:srgbClr val="FBF7F0"/>
                    </a:solidFill>
                  </a:tcPr>
                </a:tc>
              </a:tr>
              <a:tr h="545646">
                <a:tc>
                  <a:txBody>
                    <a:bodyPr/>
                    <a:lstStyle/>
                    <a:p>
                      <a:r>
                        <a:rPr sz="1650" b="0">
                          <a:solidFill>
                            <a:srgbClr val="2A1E16"/>
                          </a:solidFill>
                          <a:latin typeface="Helvetica Neue"/>
                          <a:ea typeface="Helvetica Neue"/>
                          <a:cs typeface="Helvetica Neue"/>
                        </a:rPr>
                        <a:t>My Day and quick repeat</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2–3</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Core release</a:t>
                      </a:r>
                    </a:p>
                  </a:txBody>
                  <a:tcPr marL="91440" marR="91440" marT="45720" marB="45720">
                    <a:solidFill>
                      <a:srgbClr val="F5EFE6"/>
                    </a:solidFill>
                  </a:tcPr>
                </a:tc>
              </a:tr>
              <a:tr h="545646">
                <a:tc>
                  <a:txBody>
                    <a:bodyPr/>
                    <a:lstStyle/>
                    <a:p>
                      <a:r>
                        <a:rPr sz="1650" b="0">
                          <a:solidFill>
                            <a:srgbClr val="2A1E16"/>
                          </a:solidFill>
                          <a:latin typeface="Helvetica Neue"/>
                          <a:ea typeface="Helvetica Neue"/>
                          <a:cs typeface="Helvetica Neue"/>
                        </a:rPr>
                        <a:t>Appetite Compass</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3–4</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Curated beta</a:t>
                      </a:r>
                    </a:p>
                  </a:txBody>
                  <a:tcPr marL="91440" marR="91440" marT="45720" marB="45720">
                    <a:solidFill>
                      <a:srgbClr val="FBF7F0"/>
                    </a:solidFill>
                  </a:tcPr>
                </a:tc>
              </a:tr>
              <a:tr h="545646">
                <a:tc>
                  <a:txBody>
                    <a:bodyPr/>
                    <a:lstStyle/>
                    <a:p>
                      <a:r>
                        <a:rPr sz="1650" b="0">
                          <a:solidFill>
                            <a:srgbClr val="2A1E16"/>
                          </a:solidFill>
                          <a:latin typeface="Helvetica Neue"/>
                          <a:ea typeface="Helvetica Neue"/>
                          <a:cs typeface="Helvetica Neue"/>
                        </a:rPr>
                        <a:t>Flexible Week</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3–4</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Core release</a:t>
                      </a:r>
                    </a:p>
                  </a:txBody>
                  <a:tcPr marL="91440" marR="91440" marT="45720" marB="45720">
                    <a:solidFill>
                      <a:srgbClr val="F5EFE6"/>
                    </a:solidFill>
                  </a:tcPr>
                </a:tc>
              </a:tr>
              <a:tr h="545646">
                <a:tc>
                  <a:txBody>
                    <a:bodyPr/>
                    <a:lstStyle/>
                    <a:p>
                      <a:r>
                        <a:rPr sz="1650" b="0">
                          <a:solidFill>
                            <a:srgbClr val="2A1E16"/>
                          </a:solidFill>
                          <a:latin typeface="Helvetica Neue"/>
                          <a:ea typeface="Helvetica Neue"/>
                          <a:cs typeface="Helvetica Neue"/>
                        </a:rPr>
                        <a:t>Remaining planned capacity</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5–8</a:t>
                      </a:r>
                    </a:p>
                  </a:txBody>
                  <a:tcPr marL="91440" marR="91440" marT="45720" marB="45720">
                    <a:solidFill>
                      <a:srgbClr val="FBF7F0"/>
                    </a:solidFill>
                  </a:tcPr>
                </a:tc>
                <a:tc>
                  <a:txBody>
                    <a:bodyPr/>
                    <a:lstStyle/>
                    <a:p>
                      <a:r>
                        <a:rPr sz="1650" b="0">
                          <a:solidFill>
                            <a:srgbClr val="2A1E16"/>
                          </a:solidFill>
                          <a:latin typeface="Helvetica Neue"/>
                          <a:ea typeface="Helvetica Neue"/>
                          <a:cs typeface="Helvetica Neue"/>
                        </a:rPr>
                        <a:t>Text capture or hardening</a:t>
                      </a:r>
                    </a:p>
                  </a:txBody>
                  <a:tcPr marL="91440" marR="91440" marT="45720" marB="45720">
                    <a:solidFill>
                      <a:srgbClr val="FBF7F0"/>
                    </a:solidFill>
                  </a:tcPr>
                </a:tc>
              </a:tr>
              <a:tr h="545646">
                <a:tc>
                  <a:txBody>
                    <a:bodyPr/>
                    <a:lstStyle/>
                    <a:p>
                      <a:r>
                        <a:rPr sz="1650" b="0">
                          <a:solidFill>
                            <a:srgbClr val="2A1E16"/>
                          </a:solidFill>
                          <a:latin typeface="Helvetica Neue"/>
                          <a:ea typeface="Helvetica Neue"/>
                          <a:cs typeface="Helvetica Neue"/>
                        </a:rPr>
                        <a:t>Integration and contingency</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6</a:t>
                      </a:r>
                    </a:p>
                  </a:txBody>
                  <a:tcPr marL="91440" marR="91440" marT="45720" marB="45720">
                    <a:solidFill>
                      <a:srgbClr val="F5EFE6"/>
                    </a:solidFill>
                  </a:tcPr>
                </a:tc>
                <a:tc>
                  <a:txBody>
                    <a:bodyPr/>
                    <a:lstStyle/>
                    <a:p>
                      <a:r>
                        <a:rPr sz="1650" b="0">
                          <a:solidFill>
                            <a:srgbClr val="2A1E16"/>
                          </a:solidFill>
                          <a:latin typeface="Helvetica Neue"/>
                          <a:ea typeface="Helvetica Neue"/>
                          <a:cs typeface="Helvetica Neue"/>
                        </a:rPr>
                        <a:t>Reserved</a:t>
                      </a:r>
                    </a:p>
                  </a:txBody>
                  <a:tcPr marL="91440" marR="91440" marT="45720" marB="45720">
                    <a:solidFill>
                      <a:srgbClr val="F5EFE6"/>
                    </a:solidFill>
                  </a:tcPr>
                </a:tc>
              </a:tr>
            </a:tbl>
          </a:graphicData>
        </a:graphic>
      </p:graphicFrame>
      <p:sp>
        <p:nvSpPr>
          <p:cNvPr id="6" name="">
            <a:extLst xmlns:a="http://schemas.openxmlformats.org/drawingml/2006/main">
              <a:ext uri="{FF2B5EF4-FFF2-40B4-BE49-F238E27FC236}">
                <a16:creationId xmlns:a16="http://schemas.microsoft.com/office/drawing/2014/main" id="{C22917C8-20B4-4CDD-9E15-7EDF714D482D}"/>
              </a:ext>
            </a:extLst>
          </p:cNvPr>
          <p:cNvSpPr>
            <a:spLocks xmlns:a="http://schemas.openxmlformats.org/drawingml/2006/main" noGrp="1"/>
          </p:cNvSpPr>
          <p:nvPr/>
        </p:nvSpPr>
        <p:spPr>
          <a:xfrm xmlns:a="http://schemas.openxmlformats.org/drawingml/2006/main">
            <a:off x="609600" y="59912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B5A4E"/>
                </a:solidFill>
                <a:latin typeface="Helvetica Neue"/>
                <a:ea typeface="Helvetica Neue"/>
                <a:cs typeface="Helvetica Neue"/>
              </a:defRPr>
            </a:pPr>
            <a:r>
              <a:rPr sz="1575" b="0">
                <a:solidFill>
                  <a:srgbClr val="6B5A4E"/>
                </a:solidFill>
                <a:latin typeface="Helvetica Neue"/>
                <a:ea typeface="Helvetica Neue"/>
                <a:cs typeface="Helvetica Neue"/>
              </a:rPr>
              <a:t>24 nominal engineer-weeks. Full portfolio is 19–27 before contingency and content work.</a:t>
            </a:r>
          </a:p>
        </p:txBody>
      </p:sp>
    </p:spTree>
    <p:extLst>
      <p:ext uri="{BB962C8B-B14F-4D97-AF65-F5344CB8AC3E}">
        <p14:creationId xmlns:p14="http://schemas.microsoft.com/office/powerpoint/2010/main" val="863942261"/>
      </p:ext>
    </p:extLst>
  </p:cSld>
</p:sld>
</file>

<file path=ppt/slides/slide11.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6F11EE-4252-4DBF-9078-565851B38AAB}"/>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A088339E-FEEA-4C1F-95DF-C8D1F47E109E}"/>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Rollout follows evidence gates</a:t>
            </a:r>
          </a:p>
        </p:txBody>
      </p:sp>
      <p:sp>
        <p:nvSpPr>
          <p:cNvPr id="3" name="">
            <a:extLst xmlns:a="http://schemas.openxmlformats.org/drawingml/2006/main">
              <a:ext uri="{FF2B5EF4-FFF2-40B4-BE49-F238E27FC236}">
                <a16:creationId xmlns:a16="http://schemas.microsoft.com/office/drawing/2014/main" id="{D7575CD2-84A7-4611-B0C4-4B1EC92C7243}"/>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040C75B6-6F7B-4108-BF71-D1B1F528083B}"/>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48791E6A-04E4-4E19-827F-8DD28AEE0819}"/>
              </a:ext>
            </a:extLst>
          </p:cNvPr>
          <p:cNvSpPr>
            <a:spLocks xmlns:a="http://schemas.openxmlformats.org/drawingml/2006/main" noGrp="1"/>
          </p:cNvSpPr>
          <p:nvPr/>
        </p:nvSpPr>
        <p:spPr>
          <a:xfrm xmlns:a="http://schemas.openxmlformats.org/drawingml/2006/main">
            <a:off x="609600" y="20002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Weeks 1–2</a:t>
            </a:r>
          </a:p>
        </p:txBody>
      </p:sp>
      <p:sp>
        <p:nvSpPr>
          <p:cNvPr id="6" name="">
            <a:extLst xmlns:a="http://schemas.openxmlformats.org/drawingml/2006/main">
              <a:ext uri="{FF2B5EF4-FFF2-40B4-BE49-F238E27FC236}">
                <a16:creationId xmlns:a16="http://schemas.microsoft.com/office/drawing/2014/main" id="{59E3E8D8-1E76-4A13-B149-24666F65407F}"/>
              </a:ext>
            </a:extLst>
          </p:cNvPr>
          <p:cNvSpPr>
            <a:spLocks xmlns:a="http://schemas.openxmlformats.org/drawingml/2006/main" noGrp="1"/>
          </p:cNvSpPr>
          <p:nvPr/>
        </p:nvSpPr>
        <p:spPr>
          <a:xfrm xmlns:a="http://schemas.openxmlformats.org/drawingml/2006/main">
            <a:off x="4191000" y="200025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Research switching reasons, establish the baseline and repair the foundations. Gate: validate the job.</a:t>
            </a:r>
          </a:p>
        </p:txBody>
      </p:sp>
      <p:sp>
        <p:nvSpPr>
          <p:cNvPr id="7" name="">
            <a:extLst xmlns:a="http://schemas.openxmlformats.org/drawingml/2006/main">
              <a:ext uri="{FF2B5EF4-FFF2-40B4-BE49-F238E27FC236}">
                <a16:creationId xmlns:a16="http://schemas.microsoft.com/office/drawing/2014/main" id="{030DA08B-DD00-49E1-97C4-26F6254C46C4}"/>
              </a:ext>
            </a:extLst>
          </p:cNvPr>
          <p:cNvSpPr>
            <a:spLocks xmlns:a="http://schemas.openxmlformats.org/drawingml/2006/main" noGrp="1"/>
          </p:cNvSpPr>
          <p:nvPr/>
        </p:nvSpPr>
        <p:spPr>
          <a:xfrm xmlns:a="http://schemas.openxmlformats.org/drawingml/2006/main">
            <a:off x="609600" y="32575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Weeks 3–6</a:t>
            </a:r>
          </a:p>
        </p:txBody>
      </p:sp>
      <p:sp>
        <p:nvSpPr>
          <p:cNvPr id="8" name="">
            <a:extLst xmlns:a="http://schemas.openxmlformats.org/drawingml/2006/main">
              <a:ext uri="{FF2B5EF4-FFF2-40B4-BE49-F238E27FC236}">
                <a16:creationId xmlns:a16="http://schemas.microsoft.com/office/drawing/2014/main" id="{7D330965-5056-483B-99BD-74DDED736DDA}"/>
              </a:ext>
            </a:extLst>
          </p:cNvPr>
          <p:cNvSpPr>
            <a:spLocks xmlns:a="http://schemas.openxmlformats.org/drawingml/2006/main" noGrp="1"/>
          </p:cNvSpPr>
          <p:nvPr/>
        </p:nvSpPr>
        <p:spPr>
          <a:xfrm xmlns:a="http://schemas.openxmlformats.org/drawingml/2006/main">
            <a:off x="4191000" y="325755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Release core flows to a small beta. Gate: useful suggestions and reliable logging.</a:t>
            </a:r>
          </a:p>
        </p:txBody>
      </p:sp>
      <p:sp>
        <p:nvSpPr>
          <p:cNvPr id="9" name="">
            <a:extLst xmlns:a="http://schemas.openxmlformats.org/drawingml/2006/main">
              <a:ext uri="{FF2B5EF4-FFF2-40B4-BE49-F238E27FC236}">
                <a16:creationId xmlns:a16="http://schemas.microsoft.com/office/drawing/2014/main" id="{5BF41664-26F5-43A6-9D66-1A9BEB98348F}"/>
              </a:ext>
            </a:extLst>
          </p:cNvPr>
          <p:cNvSpPr>
            <a:spLocks xmlns:a="http://schemas.openxmlformats.org/drawingml/2006/main" noGrp="1"/>
          </p:cNvSpPr>
          <p:nvPr/>
        </p:nvSpPr>
        <p:spPr>
          <a:xfrm xmlns:a="http://schemas.openxmlformats.org/drawingml/2006/main">
            <a:off x="609600" y="45148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Weeks 7–12</a:t>
            </a:r>
          </a:p>
        </p:txBody>
      </p:sp>
      <p:sp>
        <p:nvSpPr>
          <p:cNvPr id="10" name="">
            <a:extLst xmlns:a="http://schemas.openxmlformats.org/drawingml/2006/main">
              <a:ext uri="{FF2B5EF4-FFF2-40B4-BE49-F238E27FC236}">
                <a16:creationId xmlns:a16="http://schemas.microsoft.com/office/drawing/2014/main" id="{13AE95DE-3CE2-4FCD-8040-5DE1006B77DB}"/>
              </a:ext>
            </a:extLst>
          </p:cNvPr>
          <p:cNvSpPr>
            <a:spLocks xmlns:a="http://schemas.openxmlformats.org/drawingml/2006/main" noGrp="1"/>
          </p:cNvSpPr>
          <p:nvPr/>
        </p:nvSpPr>
        <p:spPr>
          <a:xfrm xmlns:a="http://schemas.openxmlformats.org/drawingml/2006/main">
            <a:off x="4191000" y="451485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Run a stable experiment and ramp exposure. Gate: mature retention evidence and acceptable cost.</a:t>
            </a:r>
          </a:p>
        </p:txBody>
      </p:sp>
    </p:spTree>
    <p:extLst>
      <p:ext uri="{BB962C8B-B14F-4D97-AF65-F5344CB8AC3E}">
        <p14:creationId xmlns:p14="http://schemas.microsoft.com/office/powerpoint/2010/main" val="1873778859"/>
      </p:ext>
    </p:extLst>
  </p:cSld>
</p:sld>
</file>

<file path=ppt/slides/slide12.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2CCAAC-044D-4473-97D9-334274A3A453}"/>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AD11382C-E409-4537-AE9B-E103F9CDFD55}"/>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Retention is the primary test</a:t>
            </a:r>
          </a:p>
        </p:txBody>
      </p:sp>
      <p:sp>
        <p:nvSpPr>
          <p:cNvPr id="3" name="">
            <a:extLst xmlns:a="http://schemas.openxmlformats.org/drawingml/2006/main">
              <a:ext uri="{FF2B5EF4-FFF2-40B4-BE49-F238E27FC236}">
                <a16:creationId xmlns:a16="http://schemas.microsoft.com/office/drawing/2014/main" id="{375E4C6C-9DE9-488C-86D9-2340EBF145A0}"/>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5DCC693C-4283-4154-8EB3-25CA63CFBE0A}"/>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E6D472FE-577A-4C85-A125-4B8EA9BE8181}"/>
              </a:ext>
            </a:extLst>
          </p:cNvPr>
          <p:cNvSpPr>
            <a:spLocks xmlns:a="http://schemas.openxmlformats.org/drawingml/2006/main" noGrp="1"/>
          </p:cNvSpPr>
          <p:nvPr/>
        </p:nvSpPr>
        <p:spPr>
          <a:xfrm xmlns:a="http://schemas.openxmlformats.org/drawingml/2006/main">
            <a:off x="609600" y="2095500"/>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b="1">
                <a:solidFill>
                  <a:srgbClr val="A8522F"/>
                </a:solidFill>
                <a:latin typeface="Helvetica Neue"/>
                <a:ea typeface="Helvetica Neue"/>
                <a:cs typeface="Helvetica Neue"/>
              </a:defRPr>
            </a:pPr>
            <a:r>
              <a:rPr sz="5325" b="1">
                <a:solidFill>
                  <a:srgbClr val="A8522F"/>
                </a:solidFill>
                <a:latin typeface="Helvetica Neue"/>
                <a:ea typeface="Helvetica Neue"/>
                <a:cs typeface="Helvetica Neue"/>
              </a:rPr>
              <a:t>+5 points</a:t>
            </a:r>
          </a:p>
        </p:txBody>
      </p:sp>
      <p:sp>
        <p:nvSpPr>
          <p:cNvPr id="6" name="">
            <a:extLst xmlns:a="http://schemas.openxmlformats.org/drawingml/2006/main">
              <a:ext uri="{FF2B5EF4-FFF2-40B4-BE49-F238E27FC236}">
                <a16:creationId xmlns:a16="http://schemas.microsoft.com/office/drawing/2014/main" id="{F295E53A-FE31-422C-B3A1-A2849CD5F9AB}"/>
              </a:ext>
            </a:extLst>
          </p:cNvPr>
          <p:cNvSpPr>
            <a:spLocks xmlns:a="http://schemas.openxmlformats.org/drawingml/2006/main" noGrp="1"/>
          </p:cNvSpPr>
          <p:nvPr/>
        </p:nvSpPr>
        <p:spPr>
          <a:xfrm xmlns:a="http://schemas.openxmlformats.org/drawingml/2006/main">
            <a:off x="609600" y="3238500"/>
            <a:ext cx="457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A1E16"/>
                </a:solidFill>
                <a:latin typeface="Helvetica Neue"/>
                <a:ea typeface="Helvetica Neue"/>
                <a:cs typeface="Helvetica Neue"/>
              </a:defRPr>
            </a:pPr>
            <a:r>
              <a:rPr sz="2175" b="0">
                <a:solidFill>
                  <a:srgbClr val="2A1E16"/>
                </a:solidFill>
                <a:latin typeface="Helvetica Neue"/>
                <a:ea typeface="Helvetica Neue"/>
                <a:cs typeface="Helvetica Neue"/>
              </a:rPr>
              <a:t>Provisional absolute W4 lift</a:t>
            </a:r>
          </a:p>
          <a:p xmlns:a="http://schemas.openxmlformats.org/drawingml/2006/main">
            <a:pPr>
              <a:defRPr sz="2175" b="0">
                <a:solidFill>
                  <a:srgbClr val="2A1E16"/>
                </a:solidFill>
                <a:latin typeface="Helvetica Neue"/>
                <a:ea typeface="Helvetica Neue"/>
                <a:cs typeface="Helvetica Neue"/>
              </a:defRPr>
            </a:pPr>
            <a:r>
              <a:rPr sz="2175" b="0">
                <a:solidFill>
                  <a:srgbClr val="2A1E16"/>
                </a:solidFill>
                <a:latin typeface="Helvetica Neue"/>
                <a:ea typeface="Helvetica Neue"/>
                <a:cs typeface="Helvetica Neue"/>
              </a:rPr>
              <a:t>versus randomized holdout</a:t>
            </a:r>
          </a:p>
        </p:txBody>
      </p:sp>
      <p:sp>
        <p:nvSpPr>
          <p:cNvPr id="7" name="">
            <a:extLst xmlns:a="http://schemas.openxmlformats.org/drawingml/2006/main">
              <a:ext uri="{FF2B5EF4-FFF2-40B4-BE49-F238E27FC236}">
                <a16:creationId xmlns:a16="http://schemas.microsoft.com/office/drawing/2014/main" id="{78884335-BCF6-4BA1-8861-0316B0426EE2}"/>
              </a:ext>
            </a:extLst>
          </p:cNvPr>
          <p:cNvSpPr>
            <a:spLocks xmlns:a="http://schemas.openxmlformats.org/drawingml/2006/main" noGrp="1"/>
          </p:cNvSpPr>
          <p:nvPr/>
        </p:nvSpPr>
        <p:spPr>
          <a:xfrm xmlns:a="http://schemas.openxmlformats.org/drawingml/2006/main">
            <a:off x="6191250" y="20955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8522F"/>
                </a:solidFill>
                <a:latin typeface="Helvetica Neue"/>
                <a:ea typeface="Helvetica Neue"/>
                <a:cs typeface="Helvetica Neue"/>
              </a:defRPr>
            </a:pPr>
            <a:r>
              <a:rPr sz="2250" b="1">
                <a:solidFill>
                  <a:srgbClr val="A8522F"/>
                </a:solidFill>
                <a:latin typeface="Helvetica Neue"/>
                <a:ea typeface="Helvetica Neue"/>
                <a:cs typeface="Helvetica Neue"/>
              </a:rPr>
              <a:t>Useful retention</a:t>
            </a:r>
          </a:p>
        </p:txBody>
      </p:sp>
      <p:sp>
        <p:nvSpPr>
          <p:cNvPr id="8" name="">
            <a:extLst xmlns:a="http://schemas.openxmlformats.org/drawingml/2006/main">
              <a:ext uri="{FF2B5EF4-FFF2-40B4-BE49-F238E27FC236}">
                <a16:creationId xmlns:a16="http://schemas.microsoft.com/office/drawing/2014/main" id="{A3E5B6FC-563C-41F9-B69F-D4EAD6E55C8D}"/>
              </a:ext>
            </a:extLst>
          </p:cNvPr>
          <p:cNvSpPr>
            <a:spLocks xmlns:a="http://schemas.openxmlformats.org/drawingml/2006/main" noGrp="1"/>
          </p:cNvSpPr>
          <p:nvPr/>
        </p:nvSpPr>
        <p:spPr>
          <a:xfrm xmlns:a="http://schemas.openxmlformats.org/drawingml/2006/main">
            <a:off x="6191250" y="276225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A1E16"/>
                </a:solidFill>
                <a:latin typeface="Helvetica Neue"/>
                <a:ea typeface="Helvetica Neue"/>
                <a:cs typeface="Helvetica Neue"/>
              </a:defRPr>
            </a:pPr>
            <a:r>
              <a:rPr sz="2100" b="0">
                <a:solidFill>
                  <a:srgbClr val="2A1E16"/>
                </a:solidFill>
                <a:latin typeface="Helvetica Neue"/>
                <a:ea typeface="Helvetica Neue"/>
                <a:cs typeface="Helvetica Neue"/>
              </a:rPr>
              <a:t>A confirmed meal log or used plan</a:t>
            </a:r>
          </a:p>
          <a:p xmlns:a="http://schemas.openxmlformats.org/drawingml/2006/main">
            <a:pPr>
              <a:defRPr sz="2100" b="0">
                <a:solidFill>
                  <a:srgbClr val="2A1E16"/>
                </a:solidFill>
                <a:latin typeface="Helvetica Neue"/>
                <a:ea typeface="Helvetica Neue"/>
                <a:cs typeface="Helvetica Neue"/>
              </a:defRPr>
            </a:pPr>
            <a:r>
              <a:rPr sz="2100" b="0">
                <a:solidFill>
                  <a:srgbClr val="2A1E16"/>
                </a:solidFill>
                <a:latin typeface="Helvetica Neue"/>
                <a:ea typeface="Helvetica Neue"/>
                <a:cs typeface="Helvetica Neue"/>
              </a:rPr>
              <a:t>on at least two days in days 22–28.</a:t>
            </a:r>
          </a:p>
          <a:p xmlns:a="http://schemas.openxmlformats.org/drawingml/2006/main">
            <a:pPr>
              <a:defRPr sz="2100" b="0">
                <a:solidFill>
                  <a:srgbClr val="2A1E16"/>
                </a:solidFill>
                <a:latin typeface="Helvetica Neue"/>
                <a:ea typeface="Helvetica Neue"/>
                <a:cs typeface="Helvetica Neue"/>
              </a:defRPr>
            </a:pPr>
            <a:r>
              <a:rPr sz="2100" b="0">
                <a:solidFill>
                  <a:srgbClr val="2A1E16"/>
                </a:solidFill>
                <a:latin typeface="Helvetica Neue"/>
                <a:ea typeface="Helvetica Neue"/>
                <a:cs typeface="Helvetica Neue"/>
              </a:rPr>
              <a:t>Include every assigned account.</a:t>
            </a:r>
          </a:p>
        </p:txBody>
      </p:sp>
      <p:sp>
        <p:nvSpPr>
          <p:cNvPr id="9" name="">
            <a:extLst xmlns:a="http://schemas.openxmlformats.org/drawingml/2006/main">
              <a:ext uri="{FF2B5EF4-FFF2-40B4-BE49-F238E27FC236}">
                <a16:creationId xmlns:a16="http://schemas.microsoft.com/office/drawing/2014/main" id="{94577CB2-1177-4043-9190-3E168BFE37CE}"/>
              </a:ext>
            </a:extLst>
          </p:cNvPr>
          <p:cNvSpPr>
            <a:spLocks xmlns:a="http://schemas.openxmlformats.org/drawingml/2006/main" noGrp="1"/>
          </p:cNvSpPr>
          <p:nvPr/>
        </p:nvSpPr>
        <p:spPr>
          <a:xfrm xmlns:a="http://schemas.openxmlformats.org/drawingml/2006/main">
            <a:off x="609600" y="51435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B5A4E"/>
                </a:solidFill>
                <a:latin typeface="Helvetica Neue"/>
                <a:ea typeface="Helvetica Neue"/>
                <a:cs typeface="Helvetica Neue"/>
              </a:defRPr>
            </a:pPr>
            <a:r>
              <a:rPr sz="1950" b="0">
                <a:solidFill>
                  <a:srgbClr val="6B5A4E"/>
                </a:solidFill>
                <a:latin typeface="Helvetica Neue"/>
                <a:ea typeface="Helvetica Neue"/>
                <a:cs typeface="Helvetica Neue"/>
              </a:rPr>
              <a:t>Baseline unknown. At an illustrative 25% baseline, a 5-point lift needs about 1,250 accounts per arm.</a:t>
            </a:r>
          </a:p>
        </p:txBody>
      </p:sp>
    </p:spTree>
    <p:extLst>
      <p:ext uri="{BB962C8B-B14F-4D97-AF65-F5344CB8AC3E}">
        <p14:creationId xmlns:p14="http://schemas.microsoft.com/office/powerpoint/2010/main" val="1893358167"/>
      </p:ext>
    </p:extLst>
  </p:cSld>
</p:sld>
</file>

<file path=ppt/slides/slide13.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C575F9A-A98D-4969-B44E-CE646982DFF8}"/>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255A3A6C-EA5B-4EED-B48B-A68BB974BEB8}"/>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Trust determines whether we expand</a:t>
            </a:r>
          </a:p>
        </p:txBody>
      </p:sp>
      <p:sp>
        <p:nvSpPr>
          <p:cNvPr id="3" name="">
            <a:extLst xmlns:a="http://schemas.openxmlformats.org/drawingml/2006/main">
              <a:ext uri="{FF2B5EF4-FFF2-40B4-BE49-F238E27FC236}">
                <a16:creationId xmlns:a16="http://schemas.microsoft.com/office/drawing/2014/main" id="{81F1C452-CF25-47F5-9C47-2B325CFD202D}"/>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C8FA9992-2BE0-4E89-83BE-C2421BFE32DC}"/>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4E240392-8371-4676-99B8-83C26C25002A}"/>
              </a:ext>
            </a:extLst>
          </p:cNvPr>
          <p:cNvSpPr>
            <a:spLocks xmlns:a="http://schemas.openxmlformats.org/drawingml/2006/main" noGrp="1"/>
          </p:cNvSpPr>
          <p:nvPr/>
        </p:nvSpPr>
        <p:spPr>
          <a:xfrm xmlns:a="http://schemas.openxmlformats.org/drawingml/2006/main">
            <a:off x="609600" y="20002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User control</a:t>
            </a:r>
          </a:p>
        </p:txBody>
      </p:sp>
      <p:sp>
        <p:nvSpPr>
          <p:cNvPr id="6" name="">
            <a:extLst xmlns:a="http://schemas.openxmlformats.org/drawingml/2006/main">
              <a:ext uri="{FF2B5EF4-FFF2-40B4-BE49-F238E27FC236}">
                <a16:creationId xmlns:a16="http://schemas.microsoft.com/office/drawing/2014/main" id="{66A4EE92-7D1F-4797-B050-4C4AAD571382}"/>
              </a:ext>
            </a:extLst>
          </p:cNvPr>
          <p:cNvSpPr>
            <a:spLocks xmlns:a="http://schemas.openxmlformats.org/drawingml/2006/main" noGrp="1"/>
          </p:cNvSpPr>
          <p:nvPr/>
        </p:nvSpPr>
        <p:spPr>
          <a:xfrm xmlns:a="http://schemas.openxmlformats.org/drawingml/2006/main">
            <a:off x="4191000" y="200025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Editable estimates, unknown-data labels, reversible plans and calorie visibility controls.</a:t>
            </a:r>
          </a:p>
        </p:txBody>
      </p:sp>
      <p:sp>
        <p:nvSpPr>
          <p:cNvPr id="7" name="">
            <a:extLst xmlns:a="http://schemas.openxmlformats.org/drawingml/2006/main">
              <a:ext uri="{FF2B5EF4-FFF2-40B4-BE49-F238E27FC236}">
                <a16:creationId xmlns:a16="http://schemas.microsoft.com/office/drawing/2014/main" id="{727D168E-42D0-4CEB-BD40-1B2A96D952E9}"/>
              </a:ext>
            </a:extLst>
          </p:cNvPr>
          <p:cNvSpPr>
            <a:spLocks xmlns:a="http://schemas.openxmlformats.org/drawingml/2006/main" noGrp="1"/>
          </p:cNvSpPr>
          <p:nvPr/>
        </p:nvSpPr>
        <p:spPr>
          <a:xfrm xmlns:a="http://schemas.openxmlformats.org/drawingml/2006/main">
            <a:off x="609600" y="323850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Health boundaries</a:t>
            </a:r>
          </a:p>
        </p:txBody>
      </p:sp>
      <p:sp>
        <p:nvSpPr>
          <p:cNvPr id="8" name="">
            <a:extLst xmlns:a="http://schemas.openxmlformats.org/drawingml/2006/main">
              <a:ext uri="{FF2B5EF4-FFF2-40B4-BE49-F238E27FC236}">
                <a16:creationId xmlns:a16="http://schemas.microsoft.com/office/drawing/2014/main" id="{FCD1EC3F-2C59-481F-847B-24852465A842}"/>
              </a:ext>
            </a:extLst>
          </p:cNvPr>
          <p:cNvSpPr>
            <a:spLocks xmlns:a="http://schemas.openxmlformats.org/drawingml/2006/main" noGrp="1"/>
          </p:cNvSpPr>
          <p:nvPr/>
        </p:nvSpPr>
        <p:spPr>
          <a:xfrm xmlns:a="http://schemas.openxmlformats.org/drawingml/2006/main">
            <a:off x="4191000" y="323850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Reviewed nutrition content. No diagnosis, medication dosing or automatic treatment changes.</a:t>
            </a:r>
          </a:p>
        </p:txBody>
      </p:sp>
      <p:sp>
        <p:nvSpPr>
          <p:cNvPr id="9" name="">
            <a:extLst xmlns:a="http://schemas.openxmlformats.org/drawingml/2006/main">
              <a:ext uri="{FF2B5EF4-FFF2-40B4-BE49-F238E27FC236}">
                <a16:creationId xmlns:a16="http://schemas.microsoft.com/office/drawing/2014/main" id="{125CA906-DE64-4E53-9BE9-D31851812CFF}"/>
              </a:ext>
            </a:extLst>
          </p:cNvPr>
          <p:cNvSpPr>
            <a:spLocks xmlns:a="http://schemas.openxmlformats.org/drawingml/2006/main" noGrp="1"/>
          </p:cNvSpPr>
          <p:nvPr/>
        </p:nvSpPr>
        <p:spPr>
          <a:xfrm xmlns:a="http://schemas.openxmlformats.org/drawingml/2006/main">
            <a:off x="609600" y="44767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522F"/>
                </a:solidFill>
                <a:latin typeface="Helvetica Neue"/>
                <a:ea typeface="Helvetica Neue"/>
                <a:cs typeface="Helvetica Neue"/>
              </a:defRPr>
            </a:pPr>
            <a:r>
              <a:rPr sz="2175" b="1">
                <a:solidFill>
                  <a:srgbClr val="A8522F"/>
                </a:solidFill>
                <a:latin typeface="Helvetica Neue"/>
                <a:ea typeface="Helvetica Neue"/>
                <a:cs typeface="Helvetica Neue"/>
              </a:rPr>
              <a:t>Release protection</a:t>
            </a:r>
          </a:p>
        </p:txBody>
      </p:sp>
      <p:sp>
        <p:nvSpPr>
          <p:cNvPr id="10" name="">
            <a:extLst xmlns:a="http://schemas.openxmlformats.org/drawingml/2006/main">
              <a:ext uri="{FF2B5EF4-FFF2-40B4-BE49-F238E27FC236}">
                <a16:creationId xmlns:a16="http://schemas.microsoft.com/office/drawing/2014/main" id="{7257580A-4220-4073-82B5-86363D9CF7C4}"/>
              </a:ext>
            </a:extLst>
          </p:cNvPr>
          <p:cNvSpPr>
            <a:spLocks xmlns:a="http://schemas.openxmlformats.org/drawingml/2006/main" noGrp="1"/>
          </p:cNvSpPr>
          <p:nvPr/>
        </p:nvSpPr>
        <p:spPr>
          <a:xfrm xmlns:a="http://schemas.openxmlformats.org/drawingml/2006/main">
            <a:off x="4191000" y="447675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Ownership tests, private media, reliable saves and feature kill switches. Manual logging stays available.</a:t>
            </a:r>
          </a:p>
        </p:txBody>
      </p:sp>
    </p:spTree>
    <p:extLst>
      <p:ext uri="{BB962C8B-B14F-4D97-AF65-F5344CB8AC3E}">
        <p14:creationId xmlns:p14="http://schemas.microsoft.com/office/powerpoint/2010/main" val="224067364"/>
      </p:ext>
    </p:extLst>
  </p:cSld>
</p:sld>
</file>

<file path=ppt/slides/slide14.xml><?xml version="1.0" encoding="utf-8"?>
<p:sld xmlns:p="http://schemas.openxmlformats.org/presentationml/2006/main">
  <p:cSld>
    <p:bg>
      <p:bgPr>
        <a:solidFill xmlns:a="http://schemas.openxmlformats.org/drawingml/2006/main">
          <a:srgbClr val="F5EF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ECDBE17-BBCB-43CB-9426-9D5283697C6C}"/>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A8522F"/>
                </a:solidFill>
                <a:latin typeface="Helvetica Neue"/>
                <a:ea typeface="Helvetica Neue"/>
                <a:cs typeface="Helvetica Neue"/>
              </a:defRPr>
            </a:pPr>
            <a:r>
              <a:rPr sz="1125" b="1">
                <a:solidFill>
                  <a:srgbClr val="A8522F"/>
                </a:solidFill>
                <a:latin typeface="Helvetica Neue"/>
                <a:ea typeface="Helvetica Neue"/>
                <a:cs typeface="Helvetica Neue"/>
              </a:rPr>
              <a:t>PRODUCT STRATEGY</a:t>
            </a:r>
          </a:p>
        </p:txBody>
      </p:sp>
      <p:sp>
        <p:nvSpPr>
          <p:cNvPr id="2" name="">
            <a:extLst xmlns:a="http://schemas.openxmlformats.org/drawingml/2006/main">
              <a:ext uri="{FF2B5EF4-FFF2-40B4-BE49-F238E27FC236}">
                <a16:creationId xmlns:a16="http://schemas.microsoft.com/office/drawing/2014/main" id="{E1C46ACD-D744-4884-834E-612D1F4E70C2}"/>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A1E16"/>
                </a:solidFill>
                <a:latin typeface="Helvetica Neue"/>
                <a:ea typeface="Helvetica Neue"/>
                <a:cs typeface="Helvetica Neue"/>
              </a:defRPr>
            </a:pPr>
            <a:r>
              <a:rPr sz="3225" b="1">
                <a:solidFill>
                  <a:srgbClr val="2A1E16"/>
                </a:solidFill>
                <a:latin typeface="Helvetica Neue"/>
                <a:ea typeface="Helvetica Neue"/>
                <a:cs typeface="Helvetica Neue"/>
              </a:rPr>
              <a:t>Commercial assumptions require validation</a:t>
            </a:r>
          </a:p>
        </p:txBody>
      </p:sp>
      <p:sp>
        <p:nvSpPr>
          <p:cNvPr id="3" name="">
            <a:extLst xmlns:a="http://schemas.openxmlformats.org/drawingml/2006/main">
              <a:ext uri="{FF2B5EF4-FFF2-40B4-BE49-F238E27FC236}">
                <a16:creationId xmlns:a16="http://schemas.microsoft.com/office/drawing/2014/main" id="{8D872EC3-6B92-4E00-AD2E-9E0B2FBDD26B}"/>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57669890-F202-4C00-9C2A-A9944E820E57}"/>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B5A4E"/>
                </a:solidFill>
                <a:latin typeface="Helvetica Neue"/>
                <a:ea typeface="Helvetica Neue"/>
                <a:cs typeface="Helvetica Neue"/>
              </a:defRPr>
            </a:pPr>
            <a:r>
              <a:rPr sz="975" b="0">
                <a:solidFill>
                  <a:srgbClr val="6B5A4E"/>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8C948D4B-B208-4E95-A58F-8B1A9DF83F72}"/>
              </a:ext>
            </a:extLst>
          </p:cNvPr>
          <p:cNvSpPr>
            <a:spLocks xmlns:a="http://schemas.openxmlformats.org/drawingml/2006/main" noGrp="1"/>
          </p:cNvSpPr>
          <p:nvPr/>
        </p:nvSpPr>
        <p:spPr>
          <a:xfrm xmlns:a="http://schemas.openxmlformats.org/drawingml/2006/main">
            <a:off x="609600" y="20764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A8522F"/>
                </a:solidFill>
                <a:latin typeface="Helvetica Neue"/>
                <a:ea typeface="Helvetica Neue"/>
                <a:cs typeface="Helvetica Neue"/>
              </a:defRPr>
            </a:pPr>
            <a:r>
              <a:rPr sz="5100" b="1">
                <a:solidFill>
                  <a:srgbClr val="A8522F"/>
                </a:solidFill>
                <a:latin typeface="Helvetica Neue"/>
                <a:ea typeface="Helvetica Neue"/>
                <a:cs typeface="Helvetica Neue"/>
              </a:rPr>
              <a:t>$150k</a:t>
            </a:r>
          </a:p>
        </p:txBody>
      </p:sp>
      <p:sp>
        <p:nvSpPr>
          <p:cNvPr id="6" name="">
            <a:extLst xmlns:a="http://schemas.openxmlformats.org/drawingml/2006/main">
              <a:ext uri="{FF2B5EF4-FFF2-40B4-BE49-F238E27FC236}">
                <a16:creationId xmlns:a16="http://schemas.microsoft.com/office/drawing/2014/main" id="{15095AD3-9BF5-422A-8202-DBADAED5EE36}"/>
              </a:ext>
            </a:extLst>
          </p:cNvPr>
          <p:cNvSpPr>
            <a:spLocks xmlns:a="http://schemas.openxmlformats.org/drawingml/2006/main" noGrp="1"/>
          </p:cNvSpPr>
          <p:nvPr/>
        </p:nvSpPr>
        <p:spPr>
          <a:xfrm xmlns:a="http://schemas.openxmlformats.org/drawingml/2006/main">
            <a:off x="609600" y="31146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Illustrative 12 week envelope</a:t>
            </a:r>
          </a:p>
        </p:txBody>
      </p:sp>
      <p:sp>
        <p:nvSpPr>
          <p:cNvPr id="7" name="">
            <a:extLst xmlns:a="http://schemas.openxmlformats.org/drawingml/2006/main">
              <a:ext uri="{FF2B5EF4-FFF2-40B4-BE49-F238E27FC236}">
                <a16:creationId xmlns:a16="http://schemas.microsoft.com/office/drawing/2014/main" id="{2E21F33D-0EF2-42F5-B2EC-DFBD02DBF1E1}"/>
              </a:ext>
            </a:extLst>
          </p:cNvPr>
          <p:cNvSpPr>
            <a:spLocks xmlns:a="http://schemas.openxmlformats.org/drawingml/2006/main" noGrp="1"/>
          </p:cNvSpPr>
          <p:nvPr/>
        </p:nvSpPr>
        <p:spPr>
          <a:xfrm xmlns:a="http://schemas.openxmlformats.org/drawingml/2006/main">
            <a:off x="609600" y="3905250"/>
            <a:ext cx="514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A1E16"/>
                </a:solidFill>
                <a:latin typeface="Helvetica Neue"/>
                <a:ea typeface="Helvetica Neue"/>
                <a:cs typeface="Helvetica Neue"/>
              </a:defRPr>
            </a:pPr>
            <a:r>
              <a:rPr sz="1950" b="0">
                <a:solidFill>
                  <a:srgbClr val="2A1E16"/>
                </a:solidFill>
                <a:latin typeface="Helvetica Neue"/>
                <a:ea typeface="Helvetica Neue"/>
                <a:cs typeface="Helvetica Neue"/>
              </a:rPr>
              <a:t>$96k engineering</a:t>
            </a:r>
          </a:p>
          <a:p xmlns:a="http://schemas.openxmlformats.org/drawingml/2006/main">
            <a:pPr>
              <a:defRPr sz="1950" b="0">
                <a:solidFill>
                  <a:srgbClr val="2A1E16"/>
                </a:solidFill>
                <a:latin typeface="Helvetica Neue"/>
                <a:ea typeface="Helvetica Neue"/>
                <a:cs typeface="Helvetica Neue"/>
              </a:defRPr>
            </a:pPr>
            <a:r>
              <a:rPr sz="1950" b="0">
                <a:solidFill>
                  <a:srgbClr val="2A1E16"/>
                </a:solidFill>
                <a:latin typeface="Helvetica Neue"/>
                <a:ea typeface="Helvetica Neue"/>
                <a:cs typeface="Helvetica Neue"/>
              </a:rPr>
              <a:t>$36k product and design</a:t>
            </a:r>
          </a:p>
          <a:p xmlns:a="http://schemas.openxmlformats.org/drawingml/2006/main">
            <a:pPr>
              <a:defRPr sz="1950" b="0">
                <a:solidFill>
                  <a:srgbClr val="2A1E16"/>
                </a:solidFill>
                <a:latin typeface="Helvetica Neue"/>
                <a:ea typeface="Helvetica Neue"/>
                <a:cs typeface="Helvetica Neue"/>
              </a:defRPr>
            </a:pPr>
            <a:r>
              <a:rPr sz="1950" b="0">
                <a:solidFill>
                  <a:srgbClr val="2A1E16"/>
                </a:solidFill>
                <a:latin typeface="Helvetica Neue"/>
                <a:ea typeface="Helvetica Neue"/>
                <a:cs typeface="Helvetica Neue"/>
              </a:rPr>
              <a:t>$18k clinical content, QA and vendors</a:t>
            </a:r>
          </a:p>
        </p:txBody>
      </p:sp>
      <p:sp>
        <p:nvSpPr>
          <p:cNvPr id="8" name="">
            <a:extLst xmlns:a="http://schemas.openxmlformats.org/drawingml/2006/main">
              <a:ext uri="{FF2B5EF4-FFF2-40B4-BE49-F238E27FC236}">
                <a16:creationId xmlns:a16="http://schemas.microsoft.com/office/drawing/2014/main" id="{B2A7895E-765E-448B-A9B7-4C1C92731B09}"/>
              </a:ext>
            </a:extLst>
          </p:cNvPr>
          <p:cNvSpPr>
            <a:spLocks xmlns:a="http://schemas.openxmlformats.org/drawingml/2006/main" noGrp="1"/>
          </p:cNvSpPr>
          <p:nvPr/>
        </p:nvSpPr>
        <p:spPr>
          <a:xfrm xmlns:a="http://schemas.openxmlformats.org/drawingml/2006/main">
            <a:off x="6572250" y="20955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8522F"/>
                </a:solidFill>
                <a:latin typeface="Helvetica Neue"/>
                <a:ea typeface="Helvetica Neue"/>
                <a:cs typeface="Helvetica Neue"/>
              </a:defRPr>
            </a:pPr>
            <a:r>
              <a:rPr sz="2250" b="1">
                <a:solidFill>
                  <a:srgbClr val="A8522F"/>
                </a:solidFill>
                <a:latin typeface="Helvetica Neue"/>
                <a:ea typeface="Helvetica Neue"/>
                <a:cs typeface="Helvetica Neue"/>
              </a:rPr>
              <a:t>Value before pricing</a:t>
            </a:r>
          </a:p>
        </p:txBody>
      </p:sp>
      <p:sp>
        <p:nvSpPr>
          <p:cNvPr id="9" name="">
            <a:extLst xmlns:a="http://schemas.openxmlformats.org/drawingml/2006/main">
              <a:ext uri="{FF2B5EF4-FFF2-40B4-BE49-F238E27FC236}">
                <a16:creationId xmlns:a16="http://schemas.microsoft.com/office/drawing/2014/main" id="{895A9881-A250-4F3A-B8CB-25FD573087E8}"/>
              </a:ext>
            </a:extLst>
          </p:cNvPr>
          <p:cNvSpPr>
            <a:spLocks xmlns:a="http://schemas.openxmlformats.org/drawingml/2006/main" noGrp="1"/>
          </p:cNvSpPr>
          <p:nvPr/>
        </p:nvSpPr>
        <p:spPr>
          <a:xfrm xmlns:a="http://schemas.openxmlformats.org/drawingml/2006/main">
            <a:off x="6572250" y="2714625"/>
            <a:ext cx="46672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Keep core tracking and export accessible.</a:t>
            </a:r>
          </a:p>
          <a:p xmlns:a="http://schemas.openxmlformats.org/drawingml/2006/main">
            <a:r>
              <a:t/>
            </a:r>
          </a:p>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Test paid convenience after users experience a useful result.</a:t>
            </a:r>
          </a:p>
          <a:p xmlns:a="http://schemas.openxmlformats.org/drawingml/2006/main">
            <a:r>
              <a:t/>
            </a:r>
          </a:p>
          <a:p xmlns:a="http://schemas.openxmlformats.org/drawingml/2006/main">
            <a:pPr>
              <a:defRPr sz="2025" b="0">
                <a:solidFill>
                  <a:srgbClr val="2A1E16"/>
                </a:solidFill>
                <a:latin typeface="Helvetica Neue"/>
                <a:ea typeface="Helvetica Neue"/>
                <a:cs typeface="Helvetica Neue"/>
              </a:defRPr>
            </a:pPr>
            <a:r>
              <a:rPr sz="2025" b="0">
                <a:solidFill>
                  <a:srgbClr val="2A1E16"/>
                </a:solidFill>
                <a:latin typeface="Helvetica Neue"/>
                <a:ea typeface="Helvetica Neue"/>
                <a:cs typeface="Helvetica Neue"/>
              </a:rPr>
              <a:t>Measure cost per confirmed assisted meal.</a:t>
            </a:r>
          </a:p>
        </p:txBody>
      </p:sp>
    </p:spTree>
    <p:extLst>
      <p:ext uri="{BB962C8B-B14F-4D97-AF65-F5344CB8AC3E}">
        <p14:creationId xmlns:p14="http://schemas.microsoft.com/office/powerpoint/2010/main" val="2014814986"/>
      </p:ext>
    </p:extLst>
  </p:cSld>
</p:sld>
</file>

<file path=ppt/slides/slide15.xml><?xml version="1.0" encoding="utf-8"?>
<p:sld xmlns:p="http://schemas.openxmlformats.org/presentationml/2006/main">
  <p:cSld>
    <p:bg>
      <p:bgPr>
        <a:solidFill xmlns:a="http://schemas.openxmlformats.org/drawingml/2006/main">
          <a:srgbClr val="2A1E1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DE2385-8104-40C5-A43A-BC0DE38EB3B8}"/>
              </a:ext>
            </a:extLst>
          </p:cNvPr>
          <p:cNvSpPr>
            <a:spLocks xmlns:a="http://schemas.openxmlformats.org/drawingml/2006/main" noGrp="1"/>
          </p:cNvSpPr>
          <p:nvPr/>
        </p:nvSpPr>
        <p:spPr>
          <a:xfrm xmlns:a="http://schemas.openxmlformats.org/drawingml/2006/main">
            <a:off x="609600" y="2667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E8A66B"/>
                </a:solidFill>
                <a:latin typeface="Helvetica Neue"/>
                <a:ea typeface="Helvetica Neue"/>
                <a:cs typeface="Helvetica Neue"/>
              </a:defRPr>
            </a:pPr>
            <a:r>
              <a:rPr sz="1125" b="1">
                <a:solidFill>
                  <a:srgbClr val="E8A66B"/>
                </a:solidFill>
                <a:latin typeface="Helvetica Neue"/>
                <a:ea typeface="Helvetica Neue"/>
                <a:cs typeface="Helvetica Neue"/>
              </a:rPr>
              <a:t>NEXT INVESTMENT GATE</a:t>
            </a:r>
          </a:p>
        </p:txBody>
      </p:sp>
      <p:sp>
        <p:nvSpPr>
          <p:cNvPr id="2" name="">
            <a:extLst xmlns:a="http://schemas.openxmlformats.org/drawingml/2006/main">
              <a:ext uri="{FF2B5EF4-FFF2-40B4-BE49-F238E27FC236}">
                <a16:creationId xmlns:a16="http://schemas.microsoft.com/office/drawing/2014/main" id="{AC749B40-3709-42CA-8196-B573C0288304}"/>
              </a:ext>
            </a:extLst>
          </p:cNvPr>
          <p:cNvSpPr>
            <a:spLocks xmlns:a="http://schemas.openxmlformats.org/drawingml/2006/main" noGrp="1"/>
          </p:cNvSpPr>
          <p:nvPr/>
        </p:nvSpPr>
        <p:spPr>
          <a:xfrm xmlns:a="http://schemas.openxmlformats.org/drawingml/2006/main">
            <a:off x="609600" y="838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BF7F0"/>
                </a:solidFill>
                <a:latin typeface="Helvetica Neue"/>
                <a:ea typeface="Helvetica Neue"/>
                <a:cs typeface="Helvetica Neue"/>
              </a:defRPr>
            </a:pPr>
            <a:r>
              <a:rPr sz="3225" b="1">
                <a:solidFill>
                  <a:srgbClr val="FBF7F0"/>
                </a:solidFill>
                <a:latin typeface="Helvetica Neue"/>
                <a:ea typeface="Helvetica Neue"/>
                <a:cs typeface="Helvetica Neue"/>
              </a:rPr>
              <a:t>The leadership decision</a:t>
            </a:r>
          </a:p>
        </p:txBody>
      </p:sp>
      <p:sp>
        <p:nvSpPr>
          <p:cNvPr id="3" name="">
            <a:extLst xmlns:a="http://schemas.openxmlformats.org/drawingml/2006/main">
              <a:ext uri="{FF2B5EF4-FFF2-40B4-BE49-F238E27FC236}">
                <a16:creationId xmlns:a16="http://schemas.microsoft.com/office/drawing/2014/main" id="{6FD2CCBB-3AF8-4F4E-9C61-D5BF4C44DF80}"/>
              </a:ext>
            </a:extLst>
          </p:cNvPr>
          <p:cNvSpPr>
            <a:spLocks xmlns:a="http://schemas.openxmlformats.org/drawingml/2006/main" noGrp="1"/>
          </p:cNvSpPr>
          <p:nvPr/>
        </p:nvSpPr>
        <p:spPr>
          <a:xfrm xmlns:a="http://schemas.openxmlformats.org/drawingml/2006/main">
            <a:off x="609600" y="64198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BBDAE"/>
                </a:solidFill>
                <a:latin typeface="Helvetica Neue"/>
                <a:ea typeface="Helvetica Neue"/>
                <a:cs typeface="Helvetica Neue"/>
              </a:defRPr>
            </a:pPr>
            <a:r>
              <a:rPr sz="975" b="0">
                <a:solidFill>
                  <a:srgbClr val="CBBDAE"/>
                </a:solidFill>
                <a:latin typeface="Helvetica Neue"/>
                <a:ea typeface="Helvetica Neue"/>
                <a:cs typeface="Helvetica Neue"/>
              </a:rPr>
              <a:t>OZEMPICAI   /   SEPTEMBER 2026</a:t>
            </a:r>
          </a:p>
        </p:txBody>
      </p:sp>
      <p:sp>
        <p:nvSpPr>
          <p:cNvPr id="4" name="">
            <a:extLst xmlns:a="http://schemas.openxmlformats.org/drawingml/2006/main">
              <a:ext uri="{FF2B5EF4-FFF2-40B4-BE49-F238E27FC236}">
                <a16:creationId xmlns:a16="http://schemas.microsoft.com/office/drawing/2014/main" id="{82800DC4-BA42-4C79-9246-B7A352E7F40B}"/>
              </a:ext>
            </a:extLst>
          </p:cNvPr>
          <p:cNvSpPr>
            <a:spLocks xmlns:a="http://schemas.openxmlformats.org/drawingml/2006/main" noGrp="1"/>
          </p:cNvSpPr>
          <p:nvPr/>
        </p:nvSpPr>
        <p:spPr>
          <a:xfrm xmlns:a="http://schemas.openxmlformats.org/drawingml/2006/main">
            <a:off x="11049000" y="64198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BBDAE"/>
                </a:solidFill>
                <a:latin typeface="Helvetica Neue"/>
                <a:ea typeface="Helvetica Neue"/>
                <a:cs typeface="Helvetica Neue"/>
              </a:defRPr>
            </a:pPr>
            <a:r>
              <a:rPr sz="975" b="0">
                <a:solidFill>
                  <a:srgbClr val="CBBDAE"/>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44434BEA-103A-4E86-87C1-7E36752FC0BE}"/>
              </a:ext>
            </a:extLst>
          </p:cNvPr>
          <p:cNvSpPr>
            <a:spLocks xmlns:a="http://schemas.openxmlformats.org/drawingml/2006/main" noGrp="1"/>
          </p:cNvSpPr>
          <p:nvPr/>
        </p:nvSpPr>
        <p:spPr>
          <a:xfrm xmlns:a="http://schemas.openxmlformats.org/drawingml/2006/main">
            <a:off x="609600" y="2047875"/>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BF7F0"/>
                </a:solidFill>
                <a:latin typeface="Helvetica Neue"/>
                <a:ea typeface="Helvetica Neue"/>
                <a:cs typeface="Helvetica Neue"/>
              </a:defRPr>
            </a:pPr>
            <a:r>
              <a:rPr sz="3675" b="1">
                <a:solidFill>
                  <a:srgbClr val="FBF7F0"/>
                </a:solidFill>
                <a:latin typeface="Helvetica Neue"/>
                <a:ea typeface="Helvetica Neue"/>
                <a:cs typeface="Helvetica Neue"/>
              </a:rPr>
              <a:t>Approve two weeks of discovery</a:t>
            </a:r>
          </a:p>
          <a:p xmlns:a="http://schemas.openxmlformats.org/drawingml/2006/main">
            <a:pPr>
              <a:defRPr sz="3675" b="1">
                <a:solidFill>
                  <a:srgbClr val="FBF7F0"/>
                </a:solidFill>
                <a:latin typeface="Helvetica Neue"/>
                <a:ea typeface="Helvetica Neue"/>
                <a:cs typeface="Helvetica Neue"/>
              </a:defRPr>
            </a:pPr>
            <a:r>
              <a:rPr sz="3675" b="1">
                <a:solidFill>
                  <a:srgbClr val="FBF7F0"/>
                </a:solidFill>
                <a:latin typeface="Helvetica Neue"/>
                <a:ea typeface="Helvetica Neue"/>
                <a:cs typeface="Helvetica Neue"/>
              </a:rPr>
              <a:t>and product foundations</a:t>
            </a:r>
          </a:p>
        </p:txBody>
      </p:sp>
      <p:sp>
        <p:nvSpPr>
          <p:cNvPr id="6" name="">
            <a:extLst xmlns:a="http://schemas.openxmlformats.org/drawingml/2006/main">
              <a:ext uri="{FF2B5EF4-FFF2-40B4-BE49-F238E27FC236}">
                <a16:creationId xmlns:a16="http://schemas.microsoft.com/office/drawing/2014/main" id="{E73B384A-18D4-4BB7-AA07-DBAB4D5F998C}"/>
              </a:ext>
            </a:extLst>
          </p:cNvPr>
          <p:cNvSpPr>
            <a:spLocks xmlns:a="http://schemas.openxmlformats.org/drawingml/2006/main" noGrp="1"/>
          </p:cNvSpPr>
          <p:nvPr/>
        </p:nvSpPr>
        <p:spPr>
          <a:xfrm xmlns:a="http://schemas.openxmlformats.org/drawingml/2006/main">
            <a:off x="609600" y="406717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BF7F0"/>
                </a:solidFill>
                <a:latin typeface="Helvetica Neue"/>
                <a:ea typeface="Helvetica Neue"/>
                <a:cs typeface="Helvetica Neue"/>
              </a:defRPr>
            </a:pPr>
            <a:r>
              <a:rPr sz="2250" b="0">
                <a:solidFill>
                  <a:srgbClr val="FBF7F0"/>
                </a:solidFill>
                <a:latin typeface="Helvetica Neue"/>
                <a:ea typeface="Helvetica Neue"/>
                <a:cs typeface="Helvetica Neue"/>
              </a:rPr>
              <a:t>Confirm the audience and staffing envelope.</a:t>
            </a:r>
          </a:p>
          <a:p xmlns:a="http://schemas.openxmlformats.org/drawingml/2006/main">
            <a:pPr>
              <a:defRPr sz="2250" b="0">
                <a:solidFill>
                  <a:srgbClr val="FBF7F0"/>
                </a:solidFill>
                <a:latin typeface="Helvetica Neue"/>
                <a:ea typeface="Helvetica Neue"/>
                <a:cs typeface="Helvetica Neue"/>
              </a:defRPr>
            </a:pPr>
            <a:r>
              <a:rPr sz="2250" b="0">
                <a:solidFill>
                  <a:srgbClr val="FBF7F0"/>
                </a:solidFill>
                <a:latin typeface="Helvetica Neue"/>
                <a:ea typeface="Helvetica Neue"/>
                <a:cs typeface="Helvetica Neue"/>
              </a:rPr>
              <a:t>Name the clinical reviewer and release owner.</a:t>
            </a:r>
          </a:p>
          <a:p xmlns:a="http://schemas.openxmlformats.org/drawingml/2006/main">
            <a:pPr>
              <a:defRPr sz="2250" b="0">
                <a:solidFill>
                  <a:srgbClr val="FBF7F0"/>
                </a:solidFill>
                <a:latin typeface="Helvetica Neue"/>
                <a:ea typeface="Helvetica Neue"/>
                <a:cs typeface="Helvetica Neue"/>
              </a:defRPr>
            </a:pPr>
            <a:r>
              <a:rPr sz="2250" b="0">
                <a:solidFill>
                  <a:srgbClr val="FBF7F0"/>
                </a:solidFill>
                <a:latin typeface="Helvetica Neue"/>
                <a:ea typeface="Helvetica Neue"/>
                <a:cs typeface="Helvetica Neue"/>
              </a:rPr>
              <a:t>Review customer evidence before expanding scope.</a:t>
            </a:r>
          </a:p>
        </p:txBody>
      </p:sp>
    </p:spTree>
    <p:extLst>
      <p:ext uri="{BB962C8B-B14F-4D97-AF65-F5344CB8AC3E}">
        <p14:creationId xmlns:p14="http://schemas.microsoft.com/office/powerpoint/2010/main" val="401694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2026-09-13T05:54:01.7140000Z</dcterms:created>
  <dcterms:modified xsi:type="dcterms:W3CDTF">2026-09-13T05:54:01.7140000Z</dcterms:modified>
</coreProperties>
</file>